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XAcademy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lghanem.github.io/PowerBi-Intro/week1/day1/web/Nova_Company_Profile.html" TargetMode="External"/><Relationship Id="rId4" Type="http://schemas.openxmlformats.org/officeDocument/2006/relationships/hyperlink" Target="https://www.microsoft.com/en-us/power-platform/products/power-bi/downloads" TargetMode="External"/><Relationship Id="rId5" Type="http://schemas.openxmlformats.org/officeDocument/2006/relationships/hyperlink" Target="https://baselghanem.github.io/PowerBi-Intro/week1/day1/downloads/Day01_CONNECT_EVERYTHING.zip" TargetMode="External"/><Relationship Id="rId6" Type="http://schemas.openxmlformats.org/officeDocument/2006/relationships/hyperlink" Target="https://baselghanem.github.io/PowerBi-Intro/week1/day1/web/Branch_Performance.html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lghanem.github.io/PowerBi-Intro/week1/day2/downloads/Day02_CLEAN_DATA.zip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baselghanem.github.io/PowerBi-Intro/week1/day3/downloads/Day03_STOP_COPYING_FILES_LEARNER.zip" TargetMode="External"/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teams.microsoft.com/meet/384079113607436?p=lgLLd5ReKE51ncdmN8" TargetMode="External"/><Relationship Id="rId4" Type="http://schemas.openxmlformats.org/officeDocument/2006/relationships/hyperlink" Target="https://baselghanem.github.io/PowerBi-Intro/" TargetMode="External"/><Relationship Id="rId5" Type="http://schemas.openxmlformats.org/officeDocument/2006/relationships/hyperlink" Target="https://baselghanem.github.io/PowerBi-Intro/week1/day1/web/Nova_Company_Profile.html" TargetMode="External"/><Relationship Id="rId6" Type="http://schemas.openxmlformats.org/officeDocument/2006/relationships/hyperlink" Target="https://www.microsoft.com/en-us/power-platform/products/power-bi/downloads" TargetMode="External"/><Relationship Id="rId7" Type="http://schemas.openxmlformats.org/officeDocument/2006/relationships/hyperlink" Target="https://baselghanem.github.io/PowerBi-Intro/week1/day1/downloads/Day01_CONNECT_EVERYTHING.zip" TargetMode="External"/><Relationship Id="rId8" Type="http://schemas.openxmlformats.org/officeDocument/2006/relationships/hyperlink" Target="https://baselghanem.github.io/PowerBi-Intro/week1/day1/web/Branch_Performance.html" TargetMode="External"/><Relationship Id="rId9" Type="http://schemas.openxmlformats.org/officeDocument/2006/relationships/hyperlink" Target="https://baselghanem.github.io/PowerBi-Intro/week1/day2/downloads/Day02_CLEAN_DATA.zip" TargetMode="External"/><Relationship Id="rId10" Type="http://schemas.openxmlformats.org/officeDocument/2006/relationships/hyperlink" Target="https://baselghanem.github.io/PowerBi-Intro/week1/day3/downloads/Day03_STOP_COPYING_FILES_LEARNER.zip" TargetMode="External"/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859975" y="841248"/>
            <a:ext cx="1417320" cy="1417320"/>
          </a:xfrm>
          <a:prstGeom prst="rect">
            <a:avLst/>
          </a:prstGeom>
        </p:spPr>
      </p:pic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0352" y="411480"/>
            <a:ext cx="384048" cy="38404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1024128" y="425196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8" name="Text 34"/>
          <p:cNvSpPr/>
          <p:nvPr/>
        </p:nvSpPr>
        <p:spPr>
          <a:xfrm>
            <a:off x="1024128" y="585216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9" name="Text 35"/>
          <p:cNvSpPr/>
          <p:nvPr/>
        </p:nvSpPr>
        <p:spPr>
          <a:xfrm>
            <a:off x="658368" y="141732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58368" y="1783080"/>
            <a:ext cx="4892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Trainer Playbook</a:t>
            </a:r>
            <a:endParaRPr lang="en-US" sz="2900" dirty="0"/>
          </a:p>
          <a:p>
            <a:pPr rtl="1" algn="r" indent="0" marL="0">
              <a:buNone/>
            </a:pPr>
            <a:r>
              <a:rPr lang="en-US" sz="29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الأسبوع الأول</a:t>
            </a:r>
            <a:endParaRPr lang="en-US" sz="2900" dirty="0"/>
          </a:p>
        </p:txBody>
      </p:sp>
      <p:sp>
        <p:nvSpPr>
          <p:cNvPr id="41" name="Text 37"/>
          <p:cNvSpPr/>
          <p:nvPr/>
        </p:nvSpPr>
        <p:spPr>
          <a:xfrm>
            <a:off x="658368" y="2852928"/>
            <a:ext cx="5257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نسخة Landscape واضحة للعرض والتدريب — مبنية على Brand Kit v0.2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658368" y="3703320"/>
            <a:ext cx="5486400" cy="1143000"/>
          </a:xfrm>
          <a:prstGeom prst="roundRect">
            <a:avLst>
              <a:gd name="adj" fmla="val 12800"/>
            </a:avLst>
          </a:prstGeom>
          <a:solidFill>
            <a:srgbClr val="F8F9FA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896112" y="3950208"/>
            <a:ext cx="50109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 →  CLEAN  →  AUTOMATE</a:t>
            </a:r>
            <a:endParaRPr lang="en-US" sz="1500" dirty="0"/>
          </a:p>
        </p:txBody>
      </p:sp>
      <p:sp>
        <p:nvSpPr>
          <p:cNvPr id="44" name="Text 40"/>
          <p:cNvSpPr/>
          <p:nvPr/>
        </p:nvSpPr>
        <p:spPr>
          <a:xfrm>
            <a:off x="896112" y="4352544"/>
            <a:ext cx="5010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20 Sep • 22 Sep • 23 Sep 2026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6812280" y="3758184"/>
            <a:ext cx="109728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6885432" y="3826764"/>
            <a:ext cx="9509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</a:t>
            </a:r>
            <a:endParaRPr lang="en-US" sz="680" dirty="0"/>
          </a:p>
        </p:txBody>
      </p:sp>
      <p:sp>
        <p:nvSpPr>
          <p:cNvPr id="47" name="Shape 43"/>
          <p:cNvSpPr/>
          <p:nvPr/>
        </p:nvSpPr>
        <p:spPr>
          <a:xfrm>
            <a:off x="8065008" y="3758184"/>
            <a:ext cx="128016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138160" y="3826764"/>
            <a:ext cx="11338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LANDSCAPE</a:t>
            </a:r>
            <a:endParaRPr lang="en-US" sz="680" dirty="0"/>
          </a:p>
        </p:txBody>
      </p:sp>
      <p:sp>
        <p:nvSpPr>
          <p:cNvPr id="49" name="Shape 45"/>
          <p:cNvSpPr/>
          <p:nvPr/>
        </p:nvSpPr>
        <p:spPr>
          <a:xfrm>
            <a:off x="9528048" y="3758184"/>
            <a:ext cx="1463040" cy="301752"/>
          </a:xfrm>
          <a:prstGeom prst="roundRect">
            <a:avLst>
              <a:gd name="adj" fmla="val 45455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9601200" y="3826764"/>
            <a:ext cx="13167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ONLY</a:t>
            </a:r>
            <a:endParaRPr lang="en-US" sz="680" dirty="0"/>
          </a:p>
        </p:txBody>
      </p:sp>
      <p:sp>
        <p:nvSpPr>
          <p:cNvPr id="51" name="Shape 47"/>
          <p:cNvSpPr/>
          <p:nvPr/>
        </p:nvSpPr>
        <p:spPr>
          <a:xfrm>
            <a:off x="6812280" y="4334256"/>
            <a:ext cx="4178808" cy="850392"/>
          </a:xfrm>
          <a:prstGeom prst="roundRect">
            <a:avLst>
              <a:gd name="adj" fmla="val 15054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7040880" y="4599432"/>
            <a:ext cx="37307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الهدف: ملف واحد يذكّرك ماذا تفتح، ماذا توزع، وكيف تغلق كل جلسة.</a:t>
            </a:r>
            <a:endParaRPr lang="en-US" sz="1080" dirty="0"/>
          </a:p>
        </p:txBody>
      </p:sp>
      <p:sp>
        <p:nvSpPr>
          <p:cNvPr id="53" name="Shape 49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55" name="Text 51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5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TRAINER PLAYBOOK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ONE BUSINESS UNIVERSE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الأسبوع الأول في صفحة واحدة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نفس Nova case يكبر معنا: نوصل الأدلة، ننظفها، ثم نحولها إلى Pipeline قابلة للتحديث.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839712" y="1271016"/>
            <a:ext cx="2976372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75120" y="11247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540" dirty="0"/>
          </a:p>
        </p:txBody>
      </p:sp>
      <p:sp>
        <p:nvSpPr>
          <p:cNvPr id="49" name="Text 46"/>
          <p:cNvSpPr/>
          <p:nvPr/>
        </p:nvSpPr>
        <p:spPr>
          <a:xfrm>
            <a:off x="624535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وصل الأدلة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809244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1812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540" dirty="0"/>
          </a:p>
        </p:txBody>
      </p:sp>
      <p:sp>
        <p:nvSpPr>
          <p:cNvPr id="52" name="Text 49"/>
          <p:cNvSpPr/>
          <p:nvPr/>
        </p:nvSpPr>
        <p:spPr>
          <a:xfrm>
            <a:off x="766267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نظف بثقة</a:t>
            </a:r>
            <a:endParaRPr lang="en-US" sz="620" dirty="0"/>
          </a:p>
        </p:txBody>
      </p:sp>
      <p:sp>
        <p:nvSpPr>
          <p:cNvPr id="53" name="Shape 50"/>
          <p:cNvSpPr/>
          <p:nvPr/>
        </p:nvSpPr>
        <p:spPr>
          <a:xfrm>
            <a:off x="950976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23544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540" dirty="0"/>
          </a:p>
        </p:txBody>
      </p:sp>
      <p:sp>
        <p:nvSpPr>
          <p:cNvPr id="55" name="Text 52"/>
          <p:cNvSpPr/>
          <p:nvPr/>
        </p:nvSpPr>
        <p:spPr>
          <a:xfrm>
            <a:off x="907999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أتمت الشهر القادم</a:t>
            </a:r>
            <a:endParaRPr lang="en-US" sz="620" dirty="0"/>
          </a:p>
        </p:txBody>
      </p:sp>
      <p:sp>
        <p:nvSpPr>
          <p:cNvPr id="56" name="Shape 53"/>
          <p:cNvSpPr/>
          <p:nvPr/>
        </p:nvSpPr>
        <p:spPr>
          <a:xfrm>
            <a:off x="640080" y="2542032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04672" y="2706624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77824" y="277520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80" dirty="0"/>
          </a:p>
        </p:txBody>
      </p:sp>
      <p:sp>
        <p:nvSpPr>
          <p:cNvPr id="59" name="Text 56"/>
          <p:cNvSpPr/>
          <p:nvPr/>
        </p:nvSpPr>
        <p:spPr>
          <a:xfrm>
            <a:off x="804672" y="316382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 EVERYTHING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04672" y="3483864"/>
            <a:ext cx="3191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Nova Profile، Power BI install، Excel / CSV / TXT / PDF / Web، ETL وأول Visuals.</a:t>
            </a:r>
            <a:endParaRPr lang="en-US" sz="830" dirty="0"/>
          </a:p>
        </p:txBody>
      </p:sp>
      <p:sp>
        <p:nvSpPr>
          <p:cNvPr id="61" name="Shape 58"/>
          <p:cNvSpPr/>
          <p:nvPr/>
        </p:nvSpPr>
        <p:spPr>
          <a:xfrm>
            <a:off x="4334256" y="2542032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498848" y="2706624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572000" y="277520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</a:t>
            </a:r>
            <a:endParaRPr lang="en-US" sz="680" dirty="0"/>
          </a:p>
        </p:txBody>
      </p:sp>
      <p:sp>
        <p:nvSpPr>
          <p:cNvPr id="64" name="Text 61"/>
          <p:cNvSpPr/>
          <p:nvPr/>
        </p:nvSpPr>
        <p:spPr>
          <a:xfrm>
            <a:off x="4498848" y="316382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DATA LIKE AN ANALYST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4498848" y="3483864"/>
            <a:ext cx="3191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Power Query: Types, Trim/Clean، Standardize، Nulls، Errors، Duplicates، Applied Steps.</a:t>
            </a:r>
            <a:endParaRPr lang="en-US" sz="830" dirty="0"/>
          </a:p>
        </p:txBody>
      </p:sp>
      <p:sp>
        <p:nvSpPr>
          <p:cNvPr id="66" name="Shape 63"/>
          <p:cNvSpPr/>
          <p:nvPr/>
        </p:nvSpPr>
        <p:spPr>
          <a:xfrm>
            <a:off x="8028432" y="2542032"/>
            <a:ext cx="3520440" cy="2148840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193024" y="2706624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266176" y="2775204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</a:t>
            </a:r>
            <a:endParaRPr lang="en-US" sz="680" dirty="0"/>
          </a:p>
        </p:txBody>
      </p:sp>
      <p:sp>
        <p:nvSpPr>
          <p:cNvPr id="69" name="Text 66"/>
          <p:cNvSpPr/>
          <p:nvPr/>
        </p:nvSpPr>
        <p:spPr>
          <a:xfrm>
            <a:off x="8193024" y="3163824"/>
            <a:ext cx="3191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COPYING FILES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8193024" y="3483864"/>
            <a:ext cx="319125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Folder Connector، Combine، Merge Masters، Reference vs Duplicate وApril proof.</a:t>
            </a:r>
            <a:endParaRPr lang="en-US" sz="830" dirty="0"/>
          </a:p>
        </p:txBody>
      </p:sp>
      <p:sp>
        <p:nvSpPr>
          <p:cNvPr id="71" name="Shape 68"/>
          <p:cNvSpPr/>
          <p:nvPr/>
        </p:nvSpPr>
        <p:spPr>
          <a:xfrm>
            <a:off x="1371600" y="5349240"/>
            <a:ext cx="9372600" cy="594360"/>
          </a:xfrm>
          <a:prstGeom prst="roundRect">
            <a:avLst>
              <a:gd name="adj" fmla="val 18462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572768" y="5486400"/>
            <a:ext cx="8970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تشرح Feature ثم تبحث عن مثال. ابدأ بالمشكلة، ثم استخدم الـFeature كحل.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SUN • 20 SEP 2026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قبل أن يدخل المتدرب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Pre-flight checklist قبل بداية الجلسة.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839712" y="1271016"/>
            <a:ext cx="2976372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75120" y="112471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540" dirty="0"/>
          </a:p>
        </p:txBody>
      </p:sp>
      <p:sp>
        <p:nvSpPr>
          <p:cNvPr id="49" name="Text 46"/>
          <p:cNvSpPr/>
          <p:nvPr/>
        </p:nvSpPr>
        <p:spPr>
          <a:xfrm>
            <a:off x="624535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وصل الأدلة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809244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1812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540" dirty="0"/>
          </a:p>
        </p:txBody>
      </p:sp>
      <p:sp>
        <p:nvSpPr>
          <p:cNvPr id="52" name="Text 49"/>
          <p:cNvSpPr/>
          <p:nvPr/>
        </p:nvSpPr>
        <p:spPr>
          <a:xfrm>
            <a:off x="766267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نظف بثقة</a:t>
            </a:r>
            <a:endParaRPr lang="en-US" sz="620" dirty="0"/>
          </a:p>
        </p:txBody>
      </p:sp>
      <p:sp>
        <p:nvSpPr>
          <p:cNvPr id="53" name="Shape 50"/>
          <p:cNvSpPr/>
          <p:nvPr/>
        </p:nvSpPr>
        <p:spPr>
          <a:xfrm>
            <a:off x="950976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23544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540" dirty="0"/>
          </a:p>
        </p:txBody>
      </p:sp>
      <p:sp>
        <p:nvSpPr>
          <p:cNvPr id="55" name="Text 52"/>
          <p:cNvSpPr/>
          <p:nvPr/>
        </p:nvSpPr>
        <p:spPr>
          <a:xfrm>
            <a:off x="907999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أتمت الشهر القادم</a:t>
            </a:r>
            <a:endParaRPr lang="en-US" sz="620" dirty="0"/>
          </a:p>
        </p:txBody>
      </p:sp>
      <p:sp>
        <p:nvSpPr>
          <p:cNvPr id="56" name="Shape 53"/>
          <p:cNvSpPr/>
          <p:nvPr/>
        </p:nvSpPr>
        <p:spPr>
          <a:xfrm>
            <a:off x="640080" y="2395728"/>
            <a:ext cx="6537960" cy="347472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2670048"/>
            <a:ext cx="1078992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7552" y="2738628"/>
            <a:ext cx="9326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</a:t>
            </a:r>
            <a:endParaRPr lang="en-US" sz="680" dirty="0"/>
          </a:p>
        </p:txBody>
      </p:sp>
      <p:sp>
        <p:nvSpPr>
          <p:cNvPr id="59" name="Shape 56"/>
          <p:cNvSpPr/>
          <p:nvPr/>
        </p:nvSpPr>
        <p:spPr>
          <a:xfrm>
            <a:off x="960120" y="314553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78408" y="317754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61" name="Text 58"/>
          <p:cNvSpPr/>
          <p:nvPr/>
        </p:nvSpPr>
        <p:spPr>
          <a:xfrm>
            <a:off x="1252728" y="3127248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Teams وتأكد من مشاركة الشاشة والصوت.</a:t>
            </a:r>
            <a:endParaRPr lang="en-US" sz="920" dirty="0"/>
          </a:p>
        </p:txBody>
      </p:sp>
      <p:sp>
        <p:nvSpPr>
          <p:cNvPr id="62" name="Shape 59"/>
          <p:cNvSpPr/>
          <p:nvPr/>
        </p:nvSpPr>
        <p:spPr>
          <a:xfrm>
            <a:off x="960120" y="354787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78408" y="357987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64" name="Text 61"/>
          <p:cNvSpPr/>
          <p:nvPr/>
        </p:nvSpPr>
        <p:spPr>
          <a:xfrm>
            <a:off x="1252728" y="3529584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Meet Nova كأول شاشة بعد المقدمة.</a:t>
            </a:r>
            <a:endParaRPr lang="en-US" sz="920" dirty="0"/>
          </a:p>
        </p:txBody>
      </p:sp>
      <p:sp>
        <p:nvSpPr>
          <p:cNvPr id="65" name="Shape 62"/>
          <p:cNvSpPr/>
          <p:nvPr/>
        </p:nvSpPr>
        <p:spPr>
          <a:xfrm>
            <a:off x="960120" y="39502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78408" y="39822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1252728" y="393192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رابط تنزيل Power BI Desktop.</a:t>
            </a:r>
            <a:endParaRPr lang="en-US" sz="920" dirty="0"/>
          </a:p>
        </p:txBody>
      </p:sp>
      <p:sp>
        <p:nvSpPr>
          <p:cNvPr id="68" name="Shape 65"/>
          <p:cNvSpPr/>
          <p:nvPr/>
        </p:nvSpPr>
        <p:spPr>
          <a:xfrm>
            <a:off x="960120" y="435254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78408" y="438454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70" name="Text 67"/>
          <p:cNvSpPr/>
          <p:nvPr/>
        </p:nvSpPr>
        <p:spPr>
          <a:xfrm>
            <a:off x="1252728" y="433425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حمّل Day 01 Source Pack وفك الضغظ.</a:t>
            </a:r>
            <a:endParaRPr lang="en-US" sz="920" dirty="0"/>
          </a:p>
        </p:txBody>
      </p:sp>
      <p:sp>
        <p:nvSpPr>
          <p:cNvPr id="71" name="Shape 68"/>
          <p:cNvSpPr/>
          <p:nvPr/>
        </p:nvSpPr>
        <p:spPr>
          <a:xfrm>
            <a:off x="960120" y="475488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78408" y="478688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50" dirty="0"/>
          </a:p>
        </p:txBody>
      </p:sp>
      <p:sp>
        <p:nvSpPr>
          <p:cNvPr id="73" name="Text 70"/>
          <p:cNvSpPr/>
          <p:nvPr/>
        </p:nvSpPr>
        <p:spPr>
          <a:xfrm>
            <a:off x="1252728" y="473659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افتح Branch Performance Web Source في Tab مستقل.</a:t>
            </a:r>
            <a:endParaRPr lang="en-US" sz="920" dirty="0"/>
          </a:p>
        </p:txBody>
      </p:sp>
      <p:sp>
        <p:nvSpPr>
          <p:cNvPr id="74" name="Shape 71"/>
          <p:cNvSpPr/>
          <p:nvPr/>
        </p:nvSpPr>
        <p:spPr>
          <a:xfrm>
            <a:off x="960120" y="515721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978408" y="518922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450" dirty="0"/>
          </a:p>
        </p:txBody>
      </p:sp>
      <p:sp>
        <p:nvSpPr>
          <p:cNvPr id="76" name="Text 73"/>
          <p:cNvSpPr/>
          <p:nvPr/>
        </p:nvSpPr>
        <p:spPr>
          <a:xfrm>
            <a:off x="1252728" y="5138928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Folder حفظ المشروع باسم واضح.</a:t>
            </a:r>
            <a:endParaRPr lang="en-US" sz="920" dirty="0"/>
          </a:p>
        </p:txBody>
      </p:sp>
      <p:sp>
        <p:nvSpPr>
          <p:cNvPr id="77" name="Shape 74"/>
          <p:cNvSpPr/>
          <p:nvPr/>
        </p:nvSpPr>
        <p:spPr>
          <a:xfrm>
            <a:off x="7452360" y="2395728"/>
            <a:ext cx="4069080" cy="3474720"/>
          </a:xfrm>
          <a:prstGeom prst="roundRect">
            <a:avLst>
              <a:gd name="adj" fmla="val 4211"/>
            </a:avLst>
          </a:prstGeom>
          <a:solidFill>
            <a:srgbClr val="F8F9FA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7726680" y="272491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أعطهم أول 15 دقيقة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7726680" y="3291840"/>
            <a:ext cx="1353312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7818120" y="3419856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PROFILE</a:t>
            </a:r>
            <a:endParaRPr lang="en-US" sz="700" dirty="0"/>
          </a:p>
        </p:txBody>
      </p:sp>
      <p:sp>
        <p:nvSpPr>
          <p:cNvPr id="81" name="Shape 78">
            <a:hlinkClick r:id="rId3" tooltip=""/>
          </p:cNvPr>
          <p:cNvSpPr/>
          <p:nvPr/>
        </p:nvSpPr>
        <p:spPr>
          <a:xfrm>
            <a:off x="7726680" y="3291840"/>
            <a:ext cx="1353312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9217152" y="3291840"/>
            <a:ext cx="1170432" cy="411480"/>
          </a:xfrm>
          <a:prstGeom prst="roundRect">
            <a:avLst>
              <a:gd name="adj" fmla="val 26667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9308592" y="3419856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</a:t>
            </a:r>
            <a:endParaRPr lang="en-US" sz="700" dirty="0"/>
          </a:p>
        </p:txBody>
      </p:sp>
      <p:sp>
        <p:nvSpPr>
          <p:cNvPr id="84" name="Shape 81">
            <a:hlinkClick r:id="rId4" tooltip=""/>
          </p:cNvPr>
          <p:cNvSpPr/>
          <p:nvPr/>
        </p:nvSpPr>
        <p:spPr>
          <a:xfrm>
            <a:off x="9217152" y="3291840"/>
            <a:ext cx="1170432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7726680" y="3895344"/>
            <a:ext cx="1353312" cy="411480"/>
          </a:xfrm>
          <a:prstGeom prst="roundRect">
            <a:avLst>
              <a:gd name="adj" fmla="val 26667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7818120" y="4023360"/>
            <a:ext cx="11704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PACK</a:t>
            </a:r>
            <a:endParaRPr lang="en-US" sz="700" dirty="0"/>
          </a:p>
        </p:txBody>
      </p:sp>
      <p:sp>
        <p:nvSpPr>
          <p:cNvPr id="87" name="Shape 84">
            <a:hlinkClick r:id="rId5" tooltip=""/>
          </p:cNvPr>
          <p:cNvSpPr/>
          <p:nvPr/>
        </p:nvSpPr>
        <p:spPr>
          <a:xfrm>
            <a:off x="7726680" y="3895344"/>
            <a:ext cx="1353312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9217152" y="3895344"/>
            <a:ext cx="1170432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9" name="Text 86"/>
          <p:cNvSpPr/>
          <p:nvPr/>
        </p:nvSpPr>
        <p:spPr>
          <a:xfrm>
            <a:off x="9308592" y="4023360"/>
            <a:ext cx="9875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SOURCE</a:t>
            </a:r>
            <a:endParaRPr lang="en-US" sz="700" dirty="0"/>
          </a:p>
        </p:txBody>
      </p:sp>
      <p:sp>
        <p:nvSpPr>
          <p:cNvPr id="90" name="Shape 87">
            <a:hlinkClick r:id="rId6" tooltip=""/>
          </p:cNvPr>
          <p:cNvSpPr/>
          <p:nvPr/>
        </p:nvSpPr>
        <p:spPr>
          <a:xfrm>
            <a:off x="9217152" y="3895344"/>
            <a:ext cx="1170432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1" name="Text 88"/>
          <p:cNvSpPr/>
          <p:nvPr/>
        </p:nvSpPr>
        <p:spPr>
          <a:xfrm>
            <a:off x="7726680" y="475488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تبدأ بالواجهة. ابدأ بالقصة والمشكلة الإدارية، بعدها البيانات، وبعدها الأدوات.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120-MIN FLOW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Run of Show — Day 01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تقسيم مقترح لجلسة ساعتين. لا تغيّر ترتيب القصة.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58368" y="2606040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4672" y="276148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00–10</a:t>
            </a:r>
            <a:endParaRPr lang="en-US" sz="620" dirty="0"/>
          </a:p>
        </p:txBody>
      </p:sp>
      <p:sp>
        <p:nvSpPr>
          <p:cNvPr id="48" name="Text 45"/>
          <p:cNvSpPr/>
          <p:nvPr/>
        </p:nvSpPr>
        <p:spPr>
          <a:xfrm>
            <a:off x="1463040" y="274320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</a:t>
            </a:r>
            <a:endParaRPr lang="en-US" sz="560" dirty="0"/>
          </a:p>
        </p:txBody>
      </p:sp>
      <p:sp>
        <p:nvSpPr>
          <p:cNvPr id="49" name="Text 46"/>
          <p:cNvSpPr/>
          <p:nvPr/>
        </p:nvSpPr>
        <p:spPr>
          <a:xfrm>
            <a:off x="2560320" y="2697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الهدف، طريقة الدورة، Nova project.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6217920" y="2606040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64224" y="276148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10–25</a:t>
            </a:r>
            <a:endParaRPr lang="en-US" sz="620" dirty="0"/>
          </a:p>
        </p:txBody>
      </p:sp>
      <p:sp>
        <p:nvSpPr>
          <p:cNvPr id="52" name="Text 49"/>
          <p:cNvSpPr/>
          <p:nvPr/>
        </p:nvSpPr>
        <p:spPr>
          <a:xfrm>
            <a:off x="7022592" y="274320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NOVA</a:t>
            </a:r>
            <a:endParaRPr lang="en-US" sz="560" dirty="0"/>
          </a:p>
        </p:txBody>
      </p:sp>
      <p:sp>
        <p:nvSpPr>
          <p:cNvPr id="53" name="Text 50"/>
          <p:cNvSpPr/>
          <p:nvPr/>
        </p:nvSpPr>
        <p:spPr>
          <a:xfrm>
            <a:off x="8119872" y="2697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Company Profile: المنتجات والفروع والتحدي.</a:t>
            </a:r>
            <a:endParaRPr lang="en-US" sz="620" dirty="0"/>
          </a:p>
        </p:txBody>
      </p:sp>
      <p:sp>
        <p:nvSpPr>
          <p:cNvPr id="54" name="Shape 51"/>
          <p:cNvSpPr/>
          <p:nvPr/>
        </p:nvSpPr>
        <p:spPr>
          <a:xfrm>
            <a:off x="658368" y="3282696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4672" y="343814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25–40</a:t>
            </a:r>
            <a:endParaRPr lang="en-US" sz="620" dirty="0"/>
          </a:p>
        </p:txBody>
      </p:sp>
      <p:sp>
        <p:nvSpPr>
          <p:cNvPr id="56" name="Text 53"/>
          <p:cNvSpPr/>
          <p:nvPr/>
        </p:nvSpPr>
        <p:spPr>
          <a:xfrm>
            <a:off x="1463040" y="3419856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endParaRPr lang="en-US" sz="560" dirty="0"/>
          </a:p>
        </p:txBody>
      </p:sp>
      <p:sp>
        <p:nvSpPr>
          <p:cNvPr id="57" name="Text 54"/>
          <p:cNvSpPr/>
          <p:nvPr/>
        </p:nvSpPr>
        <p:spPr>
          <a:xfrm>
            <a:off x="2560320" y="33741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Power BI Desktop install / launch.</a:t>
            </a:r>
            <a:endParaRPr lang="en-US" sz="620" dirty="0"/>
          </a:p>
        </p:txBody>
      </p:sp>
      <p:sp>
        <p:nvSpPr>
          <p:cNvPr id="58" name="Shape 55"/>
          <p:cNvSpPr/>
          <p:nvPr/>
        </p:nvSpPr>
        <p:spPr>
          <a:xfrm>
            <a:off x="6217920" y="3282696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64224" y="343814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40–70</a:t>
            </a:r>
            <a:endParaRPr lang="en-US" sz="620" dirty="0"/>
          </a:p>
        </p:txBody>
      </p:sp>
      <p:sp>
        <p:nvSpPr>
          <p:cNvPr id="60" name="Text 57"/>
          <p:cNvSpPr/>
          <p:nvPr/>
        </p:nvSpPr>
        <p:spPr>
          <a:xfrm>
            <a:off x="7022592" y="3419856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</a:t>
            </a:r>
            <a:endParaRPr lang="en-US" sz="560" dirty="0"/>
          </a:p>
        </p:txBody>
      </p:sp>
      <p:sp>
        <p:nvSpPr>
          <p:cNvPr id="61" name="Text 58"/>
          <p:cNvSpPr/>
          <p:nvPr/>
        </p:nvSpPr>
        <p:spPr>
          <a:xfrm>
            <a:off x="8119872" y="33741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Excel → CSV → TXT → PDF → Web.</a:t>
            </a:r>
            <a:endParaRPr lang="en-US" sz="620" dirty="0"/>
          </a:p>
        </p:txBody>
      </p:sp>
      <p:sp>
        <p:nvSpPr>
          <p:cNvPr id="62" name="Shape 59"/>
          <p:cNvSpPr/>
          <p:nvPr/>
        </p:nvSpPr>
        <p:spPr>
          <a:xfrm>
            <a:off x="658368" y="3959352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04672" y="41148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70–85</a:t>
            </a:r>
            <a:endParaRPr lang="en-US" sz="620" dirty="0"/>
          </a:p>
        </p:txBody>
      </p:sp>
      <p:sp>
        <p:nvSpPr>
          <p:cNvPr id="64" name="Text 61"/>
          <p:cNvSpPr/>
          <p:nvPr/>
        </p:nvSpPr>
        <p:spPr>
          <a:xfrm>
            <a:off x="1463040" y="4096512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</a:t>
            </a:r>
            <a:endParaRPr lang="en-US" sz="560" dirty="0"/>
          </a:p>
        </p:txBody>
      </p:sp>
      <p:sp>
        <p:nvSpPr>
          <p:cNvPr id="65" name="Text 62"/>
          <p:cNvSpPr/>
          <p:nvPr/>
        </p:nvSpPr>
        <p:spPr>
          <a:xfrm>
            <a:off x="2560320" y="40507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Explain Extract → Transform → Load.</a:t>
            </a:r>
            <a:endParaRPr lang="en-US" sz="620" dirty="0"/>
          </a:p>
        </p:txBody>
      </p:sp>
      <p:sp>
        <p:nvSpPr>
          <p:cNvPr id="66" name="Shape 63"/>
          <p:cNvSpPr/>
          <p:nvPr/>
        </p:nvSpPr>
        <p:spPr>
          <a:xfrm>
            <a:off x="6217920" y="3959352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364224" y="41148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85–100</a:t>
            </a:r>
            <a:endParaRPr lang="en-US" sz="620" dirty="0"/>
          </a:p>
        </p:txBody>
      </p:sp>
      <p:sp>
        <p:nvSpPr>
          <p:cNvPr id="68" name="Text 65"/>
          <p:cNvSpPr/>
          <p:nvPr/>
        </p:nvSpPr>
        <p:spPr>
          <a:xfrm>
            <a:off x="7022592" y="4096512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</a:t>
            </a:r>
            <a:endParaRPr lang="en-US" sz="560" dirty="0"/>
          </a:p>
        </p:txBody>
      </p:sp>
      <p:sp>
        <p:nvSpPr>
          <p:cNvPr id="69" name="Text 66"/>
          <p:cNvSpPr/>
          <p:nvPr/>
        </p:nvSpPr>
        <p:spPr>
          <a:xfrm>
            <a:off x="8119872" y="40507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Report / Data / Model views.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658368" y="4636008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04672" y="479145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100–115</a:t>
            </a:r>
            <a:endParaRPr lang="en-US" sz="620" dirty="0"/>
          </a:p>
        </p:txBody>
      </p:sp>
      <p:sp>
        <p:nvSpPr>
          <p:cNvPr id="72" name="Text 69"/>
          <p:cNvSpPr/>
          <p:nvPr/>
        </p:nvSpPr>
        <p:spPr>
          <a:xfrm>
            <a:off x="1463040" y="4773168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VISUALS</a:t>
            </a:r>
            <a:endParaRPr lang="en-US" sz="560" dirty="0"/>
          </a:p>
        </p:txBody>
      </p:sp>
      <p:sp>
        <p:nvSpPr>
          <p:cNvPr id="73" name="Text 70"/>
          <p:cNvSpPr/>
          <p:nvPr/>
        </p:nvSpPr>
        <p:spPr>
          <a:xfrm>
            <a:off x="2560320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Card + Bar + Slicer.</a:t>
            </a:r>
            <a:endParaRPr lang="en-US" sz="620" dirty="0"/>
          </a:p>
        </p:txBody>
      </p:sp>
      <p:sp>
        <p:nvSpPr>
          <p:cNvPr id="74" name="Shape 71"/>
          <p:cNvSpPr/>
          <p:nvPr/>
        </p:nvSpPr>
        <p:spPr>
          <a:xfrm>
            <a:off x="6217920" y="4636008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364224" y="479145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115–120</a:t>
            </a:r>
            <a:endParaRPr lang="en-US" sz="620" dirty="0"/>
          </a:p>
        </p:txBody>
      </p:sp>
      <p:sp>
        <p:nvSpPr>
          <p:cNvPr id="76" name="Text 73"/>
          <p:cNvSpPr/>
          <p:nvPr/>
        </p:nvSpPr>
        <p:spPr>
          <a:xfrm>
            <a:off x="7022592" y="4773168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560" dirty="0"/>
          </a:p>
        </p:txBody>
      </p:sp>
      <p:sp>
        <p:nvSpPr>
          <p:cNvPr id="77" name="Text 74"/>
          <p:cNvSpPr/>
          <p:nvPr/>
        </p:nvSpPr>
        <p:spPr>
          <a:xfrm>
            <a:off x="8119872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Save PBIX + deliverable check.</a:t>
            </a:r>
            <a:endParaRPr lang="en-US" sz="620" dirty="0"/>
          </a:p>
        </p:txBody>
      </p:sp>
      <p:sp>
        <p:nvSpPr>
          <p:cNvPr id="78" name="Shape 75"/>
          <p:cNvSpPr/>
          <p:nvPr/>
        </p:nvSpPr>
        <p:spPr>
          <a:xfrm>
            <a:off x="1188720" y="5806440"/>
            <a:ext cx="9829800" cy="594360"/>
          </a:xfrm>
          <a:prstGeom prst="roundRect">
            <a:avLst>
              <a:gd name="adj" fmla="val 18462"/>
            </a:avLst>
          </a:prstGeom>
          <a:solidFill>
            <a:srgbClr val="FFF7E6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389888" y="5943600"/>
            <a:ext cx="9427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المعيار: المتدرب يخرج بملف PBIX محفوظ، وفهم واضح لماذا استخدمنا 5 مصادر مختلفة.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YOU GIVE • WHAT THEY DO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ماذا توزّع؟ ماذا يطبقون؟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المخرجات أهم من مشاهدة الـDemo.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40080" y="242316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14400" y="269748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87552" y="276606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GIVE</a:t>
            </a:r>
            <a:endParaRPr lang="en-US" sz="680" dirty="0"/>
          </a:p>
        </p:txBody>
      </p:sp>
      <p:sp>
        <p:nvSpPr>
          <p:cNvPr id="49" name="Shape 46"/>
          <p:cNvSpPr/>
          <p:nvPr/>
        </p:nvSpPr>
        <p:spPr>
          <a:xfrm>
            <a:off x="914400" y="32644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32688" y="32964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51" name="Text 48"/>
          <p:cNvSpPr/>
          <p:nvPr/>
        </p:nvSpPr>
        <p:spPr>
          <a:xfrm>
            <a:off x="1207008" y="32461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Meet Nova — Company Profile</a:t>
            </a:r>
            <a:endParaRPr lang="en-US" sz="870" dirty="0"/>
          </a:p>
        </p:txBody>
      </p:sp>
      <p:sp>
        <p:nvSpPr>
          <p:cNvPr id="52" name="Shape 49"/>
          <p:cNvSpPr/>
          <p:nvPr/>
        </p:nvSpPr>
        <p:spPr>
          <a:xfrm>
            <a:off x="914400" y="370332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32688" y="373532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54" name="Text 51"/>
          <p:cNvSpPr/>
          <p:nvPr/>
        </p:nvSpPr>
        <p:spPr>
          <a:xfrm>
            <a:off x="120700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Day01_CONNECT_EVERYTHING.zip</a:t>
            </a:r>
            <a:endParaRPr lang="en-US" sz="870" dirty="0"/>
          </a:p>
        </p:txBody>
      </p:sp>
      <p:sp>
        <p:nvSpPr>
          <p:cNvPr id="55" name="Shape 52"/>
          <p:cNvSpPr/>
          <p:nvPr/>
        </p:nvSpPr>
        <p:spPr>
          <a:xfrm>
            <a:off x="914400" y="414223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32688" y="417423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57" name="Text 54"/>
          <p:cNvSpPr/>
          <p:nvPr/>
        </p:nvSpPr>
        <p:spPr>
          <a:xfrm>
            <a:off x="1207008" y="41239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Branch Performance Web Source</a:t>
            </a:r>
            <a:endParaRPr lang="en-US" sz="870" dirty="0"/>
          </a:p>
        </p:txBody>
      </p:sp>
      <p:sp>
        <p:nvSpPr>
          <p:cNvPr id="58" name="Shape 55"/>
          <p:cNvSpPr/>
          <p:nvPr/>
        </p:nvSpPr>
        <p:spPr>
          <a:xfrm>
            <a:off x="914400" y="458114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32688" y="461314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1207008" y="456285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7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Power BI Desktop download link</a:t>
            </a:r>
            <a:endParaRPr lang="en-US" sz="870" dirty="0"/>
          </a:p>
        </p:txBody>
      </p:sp>
      <p:sp>
        <p:nvSpPr>
          <p:cNvPr id="61" name="Shape 58"/>
          <p:cNvSpPr/>
          <p:nvPr/>
        </p:nvSpPr>
        <p:spPr>
          <a:xfrm>
            <a:off x="4343400" y="242316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4617720" y="2697480"/>
            <a:ext cx="603504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4690872" y="2766060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680" dirty="0"/>
          </a:p>
        </p:txBody>
      </p:sp>
      <p:sp>
        <p:nvSpPr>
          <p:cNvPr id="64" name="Shape 61"/>
          <p:cNvSpPr/>
          <p:nvPr/>
        </p:nvSpPr>
        <p:spPr>
          <a:xfrm>
            <a:off x="4617720" y="3264408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4636008" y="32964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66" name="Text 63"/>
          <p:cNvSpPr/>
          <p:nvPr/>
        </p:nvSpPr>
        <p:spPr>
          <a:xfrm>
            <a:off x="4910328" y="3246120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Connect all sources.</a:t>
            </a:r>
            <a:endParaRPr lang="en-US" sz="860" dirty="0"/>
          </a:p>
        </p:txBody>
      </p:sp>
      <p:sp>
        <p:nvSpPr>
          <p:cNvPr id="67" name="Shape 64"/>
          <p:cNvSpPr/>
          <p:nvPr/>
        </p:nvSpPr>
        <p:spPr>
          <a:xfrm>
            <a:off x="4617720" y="3703320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636008" y="373532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69" name="Text 66"/>
          <p:cNvSpPr/>
          <p:nvPr/>
        </p:nvSpPr>
        <p:spPr>
          <a:xfrm>
            <a:off x="4910328" y="3685032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Explain ETL using connected data.</a:t>
            </a:r>
            <a:endParaRPr lang="en-US" sz="860" dirty="0"/>
          </a:p>
        </p:txBody>
      </p:sp>
      <p:sp>
        <p:nvSpPr>
          <p:cNvPr id="70" name="Shape 67"/>
          <p:cNvSpPr/>
          <p:nvPr/>
        </p:nvSpPr>
        <p:spPr>
          <a:xfrm>
            <a:off x="4617720" y="4142232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4636008" y="417423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72" name="Text 69"/>
          <p:cNvSpPr/>
          <p:nvPr/>
        </p:nvSpPr>
        <p:spPr>
          <a:xfrm>
            <a:off x="4910328" y="4123944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Tour Report / Data / Model views.</a:t>
            </a:r>
            <a:endParaRPr lang="en-US" sz="860" dirty="0"/>
          </a:p>
        </p:txBody>
      </p:sp>
      <p:sp>
        <p:nvSpPr>
          <p:cNvPr id="73" name="Shape 70"/>
          <p:cNvSpPr/>
          <p:nvPr/>
        </p:nvSpPr>
        <p:spPr>
          <a:xfrm>
            <a:off x="4617720" y="4581144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4636008" y="461314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75" name="Text 72"/>
          <p:cNvSpPr/>
          <p:nvPr/>
        </p:nvSpPr>
        <p:spPr>
          <a:xfrm>
            <a:off x="4910328" y="4562856"/>
            <a:ext cx="2633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6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Build Revenue Card + Region chart + Slicer.</a:t>
            </a:r>
            <a:endParaRPr lang="en-US" sz="860" dirty="0"/>
          </a:p>
        </p:txBody>
      </p:sp>
      <p:sp>
        <p:nvSpPr>
          <p:cNvPr id="76" name="Shape 73"/>
          <p:cNvSpPr/>
          <p:nvPr/>
        </p:nvSpPr>
        <p:spPr>
          <a:xfrm>
            <a:off x="8046720" y="242316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8321040" y="2697480"/>
            <a:ext cx="1170432" cy="301752"/>
          </a:xfrm>
          <a:prstGeom prst="roundRect">
            <a:avLst>
              <a:gd name="adj" fmla="val 45455"/>
            </a:avLst>
          </a:prstGeom>
          <a:solidFill>
            <a:srgbClr val="0E9F6E"/>
          </a:solidFill>
          <a:ln w="10160">
            <a:solidFill>
              <a:srgbClr val="0E9F6E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8394192" y="2766060"/>
            <a:ext cx="10241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DELIVERABLE</a:t>
            </a:r>
            <a:endParaRPr lang="en-US" sz="680" dirty="0"/>
          </a:p>
        </p:txBody>
      </p:sp>
      <p:sp>
        <p:nvSpPr>
          <p:cNvPr id="79" name="Text 76"/>
          <p:cNvSpPr/>
          <p:nvPr/>
        </p:nvSpPr>
        <p:spPr>
          <a:xfrm>
            <a:off x="8321040" y="3291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4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أول نسخة من Nova Business Performance 360 + فهم عملي لـETL.</a:t>
            </a:r>
            <a:endParaRPr lang="en-US" sz="1040" dirty="0"/>
          </a:p>
        </p:txBody>
      </p:sp>
      <p:sp>
        <p:nvSpPr>
          <p:cNvPr id="80" name="Text 77"/>
          <p:cNvSpPr/>
          <p:nvPr/>
        </p:nvSpPr>
        <p:spPr>
          <a:xfrm>
            <a:off x="8321040" y="4242816"/>
            <a:ext cx="2971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Nova_Business_Performance_360_[Name].pbix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 • CONNECT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CUES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نقاط الشرح التي ل٧ تريد أن تنساها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Cues سريعة أثناء التدريب، وليست Script حرفي.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85800" y="2487168"/>
            <a:ext cx="50749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850392" y="265176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23544" y="272034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850392" y="310896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ETL</a:t>
            </a:r>
            <a:endParaRPr lang="en-US" sz="950" dirty="0"/>
          </a:p>
        </p:txBody>
      </p:sp>
      <p:sp>
        <p:nvSpPr>
          <p:cNvPr id="50" name="Text 47"/>
          <p:cNvSpPr/>
          <p:nvPr/>
        </p:nvSpPr>
        <p:spPr>
          <a:xfrm>
            <a:off x="850392" y="3429000"/>
            <a:ext cx="4745736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نحن ل٧ نستورد ملفاً فقط. نحن نبني مساراً من Source إلى Model.</a:t>
            </a:r>
            <a:endParaRPr lang="en-US" sz="830" dirty="0"/>
          </a:p>
        </p:txBody>
      </p:sp>
      <p:sp>
        <p:nvSpPr>
          <p:cNvPr id="51" name="Shape 48"/>
          <p:cNvSpPr/>
          <p:nvPr/>
        </p:nvSpPr>
        <p:spPr>
          <a:xfrm>
            <a:off x="6263640" y="2487168"/>
            <a:ext cx="50749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428232" y="265176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501384" y="272034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6428232" y="310896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 DATA</a:t>
            </a:r>
            <a:endParaRPr lang="en-US" sz="950" dirty="0"/>
          </a:p>
        </p:txBody>
      </p:sp>
      <p:sp>
        <p:nvSpPr>
          <p:cNvPr id="55" name="Text 52"/>
          <p:cNvSpPr/>
          <p:nvPr/>
        </p:nvSpPr>
        <p:spPr>
          <a:xfrm>
            <a:off x="6428232" y="3429000"/>
            <a:ext cx="4745736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قوة Power BI تبدأ عندما ل٧ تكون البيانات في مكان واحد.</a:t>
            </a:r>
            <a:endParaRPr lang="en-US" sz="830" dirty="0"/>
          </a:p>
        </p:txBody>
      </p:sp>
      <p:sp>
        <p:nvSpPr>
          <p:cNvPr id="56" name="Shape 53"/>
          <p:cNvSpPr/>
          <p:nvPr/>
        </p:nvSpPr>
        <p:spPr>
          <a:xfrm>
            <a:off x="685800" y="3675888"/>
            <a:ext cx="50749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850392" y="384048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23544" y="390906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680" dirty="0"/>
          </a:p>
        </p:txBody>
      </p:sp>
      <p:sp>
        <p:nvSpPr>
          <p:cNvPr id="59" name="Text 56"/>
          <p:cNvSpPr/>
          <p:nvPr/>
        </p:nvSpPr>
        <p:spPr>
          <a:xfrm>
            <a:off x="850392" y="429768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950" dirty="0"/>
          </a:p>
        </p:txBody>
      </p:sp>
      <p:sp>
        <p:nvSpPr>
          <p:cNvPr id="60" name="Text 57"/>
          <p:cNvSpPr/>
          <p:nvPr/>
        </p:nvSpPr>
        <p:spPr>
          <a:xfrm>
            <a:off x="850392" y="4617720"/>
            <a:ext cx="4745736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Report = explain • Data = inspect • Model = relate.</a:t>
            </a:r>
            <a:endParaRPr lang="en-US" sz="830" dirty="0"/>
          </a:p>
        </p:txBody>
      </p:sp>
      <p:sp>
        <p:nvSpPr>
          <p:cNvPr id="61" name="Shape 58"/>
          <p:cNvSpPr/>
          <p:nvPr/>
        </p:nvSpPr>
        <p:spPr>
          <a:xfrm>
            <a:off x="6263640" y="3675888"/>
            <a:ext cx="50749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428232" y="384048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6501384" y="390906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</a:t>
            </a:r>
            <a:endParaRPr lang="en-US" sz="680" dirty="0"/>
          </a:p>
        </p:txBody>
      </p:sp>
      <p:sp>
        <p:nvSpPr>
          <p:cNvPr id="64" name="Text 61"/>
          <p:cNvSpPr/>
          <p:nvPr/>
        </p:nvSpPr>
        <p:spPr>
          <a:xfrm>
            <a:off x="6428232" y="429768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</a:t>
            </a:r>
            <a:endParaRPr lang="en-US" sz="950" dirty="0"/>
          </a:p>
        </p:txBody>
      </p:sp>
      <p:sp>
        <p:nvSpPr>
          <p:cNvPr id="65" name="Text 62"/>
          <p:cNvSpPr/>
          <p:nvPr/>
        </p:nvSpPr>
        <p:spPr>
          <a:xfrm>
            <a:off x="6428232" y="4617720"/>
            <a:ext cx="4745736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ابدأ Business Question قبل اختيار الـVisual.</a:t>
            </a:r>
            <a:endParaRPr lang="en-US" sz="830" dirty="0"/>
          </a:p>
        </p:txBody>
      </p:sp>
      <p:sp>
        <p:nvSpPr>
          <p:cNvPr id="66" name="Shape 63"/>
          <p:cNvSpPr/>
          <p:nvPr/>
        </p:nvSpPr>
        <p:spPr>
          <a:xfrm>
            <a:off x="685800" y="4864608"/>
            <a:ext cx="50749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850392" y="502920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923544" y="509778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</a:t>
            </a:r>
            <a:endParaRPr lang="en-US" sz="680" dirty="0"/>
          </a:p>
        </p:txBody>
      </p:sp>
      <p:sp>
        <p:nvSpPr>
          <p:cNvPr id="69" name="Text 66"/>
          <p:cNvSpPr/>
          <p:nvPr/>
        </p:nvSpPr>
        <p:spPr>
          <a:xfrm>
            <a:off x="850392" y="548640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SLICER</a:t>
            </a:r>
            <a:endParaRPr lang="en-US" sz="950" dirty="0"/>
          </a:p>
        </p:txBody>
      </p:sp>
      <p:sp>
        <p:nvSpPr>
          <p:cNvPr id="70" name="Text 67"/>
          <p:cNvSpPr/>
          <p:nvPr/>
        </p:nvSpPr>
        <p:spPr>
          <a:xfrm>
            <a:off x="850392" y="5806440"/>
            <a:ext cx="4745736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خليهم يضغطوا بأنفسهم ويروا كيف يتغير Context.</a:t>
            </a:r>
            <a:endParaRPr lang="en-US" sz="830" dirty="0"/>
          </a:p>
        </p:txBody>
      </p:sp>
      <p:sp>
        <p:nvSpPr>
          <p:cNvPr id="71" name="Shape 68"/>
          <p:cNvSpPr/>
          <p:nvPr/>
        </p:nvSpPr>
        <p:spPr>
          <a:xfrm>
            <a:off x="6263640" y="4864608"/>
            <a:ext cx="5074920" cy="932688"/>
          </a:xfrm>
          <a:prstGeom prst="roundRect">
            <a:avLst>
              <a:gd name="adj" fmla="val 1372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428232" y="5029200"/>
            <a:ext cx="73152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6501384" y="5097780"/>
            <a:ext cx="585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680" dirty="0"/>
          </a:p>
        </p:txBody>
      </p:sp>
      <p:sp>
        <p:nvSpPr>
          <p:cNvPr id="74" name="Text 71"/>
          <p:cNvSpPr/>
          <p:nvPr/>
        </p:nvSpPr>
        <p:spPr>
          <a:xfrm>
            <a:off x="6428232" y="5486400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</a:t>
            </a:r>
            <a:endParaRPr lang="en-US" sz="950" dirty="0"/>
          </a:p>
        </p:txBody>
      </p:sp>
      <p:sp>
        <p:nvSpPr>
          <p:cNvPr id="75" name="Text 72"/>
          <p:cNvSpPr/>
          <p:nvPr/>
        </p:nvSpPr>
        <p:spPr>
          <a:xfrm>
            <a:off x="6428232" y="5806440"/>
            <a:ext cx="4745736" cy="-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3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سمّوا الملف الآن؛ هذا المشروع سيكبر معنا كل يوم.</a:t>
            </a:r>
            <a:endParaRPr lang="en-US" sz="830" dirty="0"/>
          </a:p>
        </p:txBody>
      </p:sp>
      <p:sp>
        <p:nvSpPr>
          <p:cNvPr id="76" name="Text 73"/>
          <p:cNvSpPr/>
          <p:nvPr/>
        </p:nvSpPr>
        <p:spPr>
          <a:xfrm>
            <a:off x="1965960" y="59253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920" b="1" dirty="0">
                <a:solidFill>
                  <a:srgbClr val="099999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علامة نجاح Day 1: المتدرب قادر يشرح ETL بكلماته.</a:t>
            </a:r>
            <a:endParaRPr lang="en-US" sz="9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• CLEAN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TUE • 22 SEP 2026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Day 02 — قبل الجلسة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اليوم ليس Power Query buttons. اليوم هو Data Quality judgment.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839712" y="1271016"/>
            <a:ext cx="2976372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7512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540" dirty="0"/>
          </a:p>
        </p:txBody>
      </p:sp>
      <p:sp>
        <p:nvSpPr>
          <p:cNvPr id="49" name="Text 46"/>
          <p:cNvSpPr/>
          <p:nvPr/>
        </p:nvSpPr>
        <p:spPr>
          <a:xfrm>
            <a:off x="624535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وصل الأدلة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8092440" y="1124712"/>
            <a:ext cx="292608" cy="29260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1812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540" dirty="0"/>
          </a:p>
        </p:txBody>
      </p:sp>
      <p:sp>
        <p:nvSpPr>
          <p:cNvPr id="52" name="Text 49"/>
          <p:cNvSpPr/>
          <p:nvPr/>
        </p:nvSpPr>
        <p:spPr>
          <a:xfrm>
            <a:off x="766267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نظف بثقة</a:t>
            </a:r>
            <a:endParaRPr lang="en-US" sz="620" dirty="0"/>
          </a:p>
        </p:txBody>
      </p:sp>
      <p:sp>
        <p:nvSpPr>
          <p:cNvPr id="53" name="Shape 50"/>
          <p:cNvSpPr/>
          <p:nvPr/>
        </p:nvSpPr>
        <p:spPr>
          <a:xfrm>
            <a:off x="950976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23544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540" dirty="0"/>
          </a:p>
        </p:txBody>
      </p:sp>
      <p:sp>
        <p:nvSpPr>
          <p:cNvPr id="55" name="Text 52"/>
          <p:cNvSpPr/>
          <p:nvPr/>
        </p:nvSpPr>
        <p:spPr>
          <a:xfrm>
            <a:off x="907999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أتمت الشهر القادم</a:t>
            </a:r>
            <a:endParaRPr lang="en-US" sz="620" dirty="0"/>
          </a:p>
        </p:txBody>
      </p:sp>
      <p:sp>
        <p:nvSpPr>
          <p:cNvPr id="56" name="Shape 53"/>
          <p:cNvSpPr/>
          <p:nvPr/>
        </p:nvSpPr>
        <p:spPr>
          <a:xfrm>
            <a:off x="658368" y="2487168"/>
            <a:ext cx="653796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2770632"/>
            <a:ext cx="105156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7552" y="2839212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PRE-FLIGHT</a:t>
            </a:r>
            <a:endParaRPr lang="en-US" sz="680" dirty="0"/>
          </a:p>
        </p:txBody>
      </p:sp>
      <p:sp>
        <p:nvSpPr>
          <p:cNvPr id="59" name="Shape 56"/>
          <p:cNvSpPr/>
          <p:nvPr/>
        </p:nvSpPr>
        <p:spPr>
          <a:xfrm>
            <a:off x="941832" y="3291840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60120" y="33238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61" name="Text 58"/>
          <p:cNvSpPr/>
          <p:nvPr/>
        </p:nvSpPr>
        <p:spPr>
          <a:xfrm>
            <a:off x="1234440" y="32735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تأكد أن Day02_CLEAN_DATA.zip متاح.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941832" y="3694176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60120" y="372618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64" name="Text 61"/>
          <p:cNvSpPr/>
          <p:nvPr/>
        </p:nvSpPr>
        <p:spPr>
          <a:xfrm>
            <a:off x="1234440" y="3675888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ابدأ بملف Branch Daily Performance dirty كما هو.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1832" y="4096512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0120" y="41285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1234440" y="4078224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اكتب Grain على الشاشة: Branch ID + Date.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941832" y="4498848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60120" y="453085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70" name="Text 67"/>
          <p:cNvSpPr/>
          <p:nvPr/>
        </p:nvSpPr>
        <p:spPr>
          <a:xfrm>
            <a:off x="1234440" y="44805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أمثلة: dates / regions / revenue / headcount / duplicates.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941832" y="4901184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60120" y="493318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50" dirty="0"/>
          </a:p>
        </p:txBody>
      </p:sp>
      <p:sp>
        <p:nvSpPr>
          <p:cNvPr id="73" name="Text 70"/>
          <p:cNvSpPr/>
          <p:nvPr/>
        </p:nvSpPr>
        <p:spPr>
          <a:xfrm>
            <a:off x="1234440" y="488289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لن نحذف Null أو Duplicate إلا بسبب Business واضح.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7479792" y="2487168"/>
            <a:ext cx="4041648" cy="2971800"/>
          </a:xfrm>
          <a:prstGeom prst="roundRect">
            <a:avLst>
              <a:gd name="adj" fmla="val 4923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772400" y="28163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الملف الذي تعطيه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7772400" y="3438144"/>
            <a:ext cx="2057400" cy="411480"/>
          </a:xfrm>
          <a:prstGeom prst="roundRect">
            <a:avLst>
              <a:gd name="adj" fmla="val 26667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63840" y="3566160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CLEANING LAB</a:t>
            </a:r>
            <a:endParaRPr lang="en-US" sz="700" dirty="0"/>
          </a:p>
        </p:txBody>
      </p:sp>
      <p:sp>
        <p:nvSpPr>
          <p:cNvPr id="78" name="Shape 75">
            <a:hlinkClick r:id="rId3" tooltip=""/>
          </p:cNvPr>
          <p:cNvSpPr/>
          <p:nvPr/>
        </p:nvSpPr>
        <p:spPr>
          <a:xfrm>
            <a:off x="7772400" y="3438144"/>
            <a:ext cx="205740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772400" y="4224528"/>
            <a:ext cx="3429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50K logical Branch-Day rows + intentional bad duplicates + 8K Dirty Customers + Cleaning Checklist.</a:t>
            </a:r>
            <a:endParaRPr lang="en-US" sz="9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• CLEAN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120-MIN FLOW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Run of Show — Day 02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التركيز: inspect → decide → clean → validate → refresh.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58368" y="2606040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4672" y="276148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00–10</a:t>
            </a:r>
            <a:endParaRPr lang="en-US" sz="620" dirty="0"/>
          </a:p>
        </p:txBody>
      </p:sp>
      <p:sp>
        <p:nvSpPr>
          <p:cNvPr id="48" name="Text 45"/>
          <p:cNvSpPr/>
          <p:nvPr/>
        </p:nvSpPr>
        <p:spPr>
          <a:xfrm>
            <a:off x="1463040" y="274320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RECAP</a:t>
            </a:r>
            <a:endParaRPr lang="en-US" sz="560" dirty="0"/>
          </a:p>
        </p:txBody>
      </p:sp>
      <p:sp>
        <p:nvSpPr>
          <p:cNvPr id="49" name="Text 46"/>
          <p:cNvSpPr/>
          <p:nvPr/>
        </p:nvSpPr>
        <p:spPr>
          <a:xfrm>
            <a:off x="2560320" y="2697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 المشكلة لو البيانات غير موثوقة؟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6217920" y="2606040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64224" y="276148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10–25</a:t>
            </a:r>
            <a:endParaRPr lang="en-US" sz="620" dirty="0"/>
          </a:p>
        </p:txBody>
      </p:sp>
      <p:sp>
        <p:nvSpPr>
          <p:cNvPr id="52" name="Text 49"/>
          <p:cNvSpPr/>
          <p:nvPr/>
        </p:nvSpPr>
        <p:spPr>
          <a:xfrm>
            <a:off x="7022592" y="274320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</a:t>
            </a:r>
            <a:endParaRPr lang="en-US" sz="560" dirty="0"/>
          </a:p>
        </p:txBody>
      </p:sp>
      <p:sp>
        <p:nvSpPr>
          <p:cNvPr id="53" name="Text 50"/>
          <p:cNvSpPr/>
          <p:nvPr/>
        </p:nvSpPr>
        <p:spPr>
          <a:xfrm>
            <a:off x="8119872" y="2697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ثبت Branch ID + Date.</a:t>
            </a:r>
            <a:endParaRPr lang="en-US" sz="620" dirty="0"/>
          </a:p>
        </p:txBody>
      </p:sp>
      <p:sp>
        <p:nvSpPr>
          <p:cNvPr id="54" name="Shape 51"/>
          <p:cNvSpPr/>
          <p:nvPr/>
        </p:nvSpPr>
        <p:spPr>
          <a:xfrm>
            <a:off x="658368" y="3282696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4672" y="343814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25–45</a:t>
            </a:r>
            <a:endParaRPr lang="en-US" sz="620" dirty="0"/>
          </a:p>
        </p:txBody>
      </p:sp>
      <p:sp>
        <p:nvSpPr>
          <p:cNvPr id="56" name="Text 53"/>
          <p:cNvSpPr/>
          <p:nvPr/>
        </p:nvSpPr>
        <p:spPr>
          <a:xfrm>
            <a:off x="1463040" y="3419856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</a:t>
            </a:r>
            <a:endParaRPr lang="en-US" sz="560" dirty="0"/>
          </a:p>
        </p:txBody>
      </p:sp>
      <p:sp>
        <p:nvSpPr>
          <p:cNvPr id="57" name="Text 54"/>
          <p:cNvSpPr/>
          <p:nvPr/>
        </p:nvSpPr>
        <p:spPr>
          <a:xfrm>
            <a:off x="2560320" y="33741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Column quality + inspect errors.</a:t>
            </a:r>
            <a:endParaRPr lang="en-US" sz="620" dirty="0"/>
          </a:p>
        </p:txBody>
      </p:sp>
      <p:sp>
        <p:nvSpPr>
          <p:cNvPr id="58" name="Shape 55"/>
          <p:cNvSpPr/>
          <p:nvPr/>
        </p:nvSpPr>
        <p:spPr>
          <a:xfrm>
            <a:off x="6217920" y="3282696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64224" y="343814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45–70</a:t>
            </a:r>
            <a:endParaRPr lang="en-US" sz="620" dirty="0"/>
          </a:p>
        </p:txBody>
      </p:sp>
      <p:sp>
        <p:nvSpPr>
          <p:cNvPr id="60" name="Text 57"/>
          <p:cNvSpPr/>
          <p:nvPr/>
        </p:nvSpPr>
        <p:spPr>
          <a:xfrm>
            <a:off x="7022592" y="3419856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560" dirty="0"/>
          </a:p>
        </p:txBody>
      </p:sp>
      <p:sp>
        <p:nvSpPr>
          <p:cNvPr id="61" name="Text 58"/>
          <p:cNvSpPr/>
          <p:nvPr/>
        </p:nvSpPr>
        <p:spPr>
          <a:xfrm>
            <a:off x="8119872" y="33741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Trim/Clean + standardize values.</a:t>
            </a:r>
            <a:endParaRPr lang="en-US" sz="620" dirty="0"/>
          </a:p>
        </p:txBody>
      </p:sp>
      <p:sp>
        <p:nvSpPr>
          <p:cNvPr id="62" name="Shape 59"/>
          <p:cNvSpPr/>
          <p:nvPr/>
        </p:nvSpPr>
        <p:spPr>
          <a:xfrm>
            <a:off x="658368" y="3959352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04672" y="41148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70–90</a:t>
            </a:r>
            <a:endParaRPr lang="en-US" sz="620" dirty="0"/>
          </a:p>
        </p:txBody>
      </p:sp>
      <p:sp>
        <p:nvSpPr>
          <p:cNvPr id="64" name="Text 61"/>
          <p:cNvSpPr/>
          <p:nvPr/>
        </p:nvSpPr>
        <p:spPr>
          <a:xfrm>
            <a:off x="1463040" y="4096512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NULLS</a:t>
            </a:r>
            <a:endParaRPr lang="en-US" sz="560" dirty="0"/>
          </a:p>
        </p:txBody>
      </p:sp>
      <p:sp>
        <p:nvSpPr>
          <p:cNvPr id="65" name="Text 62"/>
          <p:cNvSpPr/>
          <p:nvPr/>
        </p:nvSpPr>
        <p:spPr>
          <a:xfrm>
            <a:off x="2560320" y="40507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متى replace؟ متى remove؟</a:t>
            </a:r>
            <a:endParaRPr lang="en-US" sz="620" dirty="0"/>
          </a:p>
        </p:txBody>
      </p:sp>
      <p:sp>
        <p:nvSpPr>
          <p:cNvPr id="66" name="Shape 63"/>
          <p:cNvSpPr/>
          <p:nvPr/>
        </p:nvSpPr>
        <p:spPr>
          <a:xfrm>
            <a:off x="6217920" y="3959352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364224" y="41148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90–105</a:t>
            </a:r>
            <a:endParaRPr lang="en-US" sz="620" dirty="0"/>
          </a:p>
        </p:txBody>
      </p:sp>
      <p:sp>
        <p:nvSpPr>
          <p:cNvPr id="68" name="Text 65"/>
          <p:cNvSpPr/>
          <p:nvPr/>
        </p:nvSpPr>
        <p:spPr>
          <a:xfrm>
            <a:off x="7022592" y="4096512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</a:t>
            </a:r>
            <a:endParaRPr lang="en-US" sz="560" dirty="0"/>
          </a:p>
        </p:txBody>
      </p:sp>
      <p:sp>
        <p:nvSpPr>
          <p:cNvPr id="69" name="Text 66"/>
          <p:cNvSpPr/>
          <p:nvPr/>
        </p:nvSpPr>
        <p:spPr>
          <a:xfrm>
            <a:off x="8119872" y="40507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احذف فقط true duplicates.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658368" y="4636008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04672" y="479145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105–115</a:t>
            </a:r>
            <a:endParaRPr lang="en-US" sz="620" dirty="0"/>
          </a:p>
        </p:txBody>
      </p:sp>
      <p:sp>
        <p:nvSpPr>
          <p:cNvPr id="72" name="Text 69"/>
          <p:cNvSpPr/>
          <p:nvPr/>
        </p:nvSpPr>
        <p:spPr>
          <a:xfrm>
            <a:off x="1463040" y="4773168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CHECKLIST</a:t>
            </a:r>
            <a:endParaRPr lang="en-US" sz="560" dirty="0"/>
          </a:p>
        </p:txBody>
      </p:sp>
      <p:sp>
        <p:nvSpPr>
          <p:cNvPr id="73" name="Text 70"/>
          <p:cNvSpPr/>
          <p:nvPr/>
        </p:nvSpPr>
        <p:spPr>
          <a:xfrm>
            <a:off x="2560320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Customer Master challenge.</a:t>
            </a:r>
            <a:endParaRPr lang="en-US" sz="620" dirty="0"/>
          </a:p>
        </p:txBody>
      </p:sp>
      <p:sp>
        <p:nvSpPr>
          <p:cNvPr id="74" name="Shape 71"/>
          <p:cNvSpPr/>
          <p:nvPr/>
        </p:nvSpPr>
        <p:spPr>
          <a:xfrm>
            <a:off x="6217920" y="4636008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364224" y="479145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115–120</a:t>
            </a:r>
            <a:endParaRPr lang="en-US" sz="620" dirty="0"/>
          </a:p>
        </p:txBody>
      </p:sp>
      <p:sp>
        <p:nvSpPr>
          <p:cNvPr id="76" name="Text 73"/>
          <p:cNvSpPr/>
          <p:nvPr/>
        </p:nvSpPr>
        <p:spPr>
          <a:xfrm>
            <a:off x="7022592" y="4773168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560" dirty="0"/>
          </a:p>
        </p:txBody>
      </p:sp>
      <p:sp>
        <p:nvSpPr>
          <p:cNvPr id="77" name="Text 74"/>
          <p:cNvSpPr/>
          <p:nvPr/>
        </p:nvSpPr>
        <p:spPr>
          <a:xfrm>
            <a:off x="8119872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Applied Steps + Refresh.</a:t>
            </a:r>
            <a:endParaRPr lang="en-US" sz="620" dirty="0"/>
          </a:p>
        </p:txBody>
      </p:sp>
      <p:sp>
        <p:nvSpPr>
          <p:cNvPr id="78" name="Shape 75"/>
          <p:cNvSpPr/>
          <p:nvPr/>
        </p:nvSpPr>
        <p:spPr>
          <a:xfrm>
            <a:off x="1188720" y="5806440"/>
            <a:ext cx="9829800" cy="594360"/>
          </a:xfrm>
          <a:prstGeom prst="roundRect">
            <a:avLst>
              <a:gd name="adj" fmla="val 18462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389888" y="5943600"/>
            <a:ext cx="9427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Deliverable: Branch Daily Performance + Customer Master نظيفان، Grain واضح، وRefresh يعمل.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 • CLEAN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ANALYST CLEANING PROTOCOL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ترتيب التنظيف الذي أريدهم يتعلموه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نظام ثابت لأي Dataset، وليس فقط Nova.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85800" y="2395728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50392" y="25603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660" dirty="0"/>
          </a:p>
        </p:txBody>
      </p:sp>
      <p:sp>
        <p:nvSpPr>
          <p:cNvPr id="48" name="Text 45"/>
          <p:cNvSpPr/>
          <p:nvPr/>
        </p:nvSpPr>
        <p:spPr>
          <a:xfrm>
            <a:off x="1252728" y="25511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GRAIN</a:t>
            </a:r>
            <a:endParaRPr lang="en-US" sz="610" dirty="0"/>
          </a:p>
        </p:txBody>
      </p:sp>
      <p:sp>
        <p:nvSpPr>
          <p:cNvPr id="49" name="Text 46"/>
          <p:cNvSpPr/>
          <p:nvPr/>
        </p:nvSpPr>
        <p:spPr>
          <a:xfrm>
            <a:off x="2679192" y="248716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 هو row واحد؟ وما هو الـkey؟</a:t>
            </a:r>
            <a:endParaRPr lang="en-US" sz="660" dirty="0"/>
          </a:p>
        </p:txBody>
      </p:sp>
      <p:sp>
        <p:nvSpPr>
          <p:cNvPr id="50" name="Shape 47"/>
          <p:cNvSpPr/>
          <p:nvPr/>
        </p:nvSpPr>
        <p:spPr>
          <a:xfrm>
            <a:off x="6245352" y="2395728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409944" y="2560320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660" dirty="0"/>
          </a:p>
        </p:txBody>
      </p:sp>
      <p:sp>
        <p:nvSpPr>
          <p:cNvPr id="52" name="Text 49"/>
          <p:cNvSpPr/>
          <p:nvPr/>
        </p:nvSpPr>
        <p:spPr>
          <a:xfrm>
            <a:off x="6812280" y="2551176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</a:t>
            </a:r>
            <a:endParaRPr lang="en-US" sz="610" dirty="0"/>
          </a:p>
        </p:txBody>
      </p:sp>
      <p:sp>
        <p:nvSpPr>
          <p:cNvPr id="53" name="Text 50"/>
          <p:cNvSpPr/>
          <p:nvPr/>
        </p:nvSpPr>
        <p:spPr>
          <a:xfrm>
            <a:off x="8238744" y="2487168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Dates / numbers / text قبل أي Transformation.</a:t>
            </a:r>
            <a:endParaRPr lang="en-US" sz="660" dirty="0"/>
          </a:p>
        </p:txBody>
      </p:sp>
      <p:sp>
        <p:nvSpPr>
          <p:cNvPr id="54" name="Shape 51"/>
          <p:cNvSpPr/>
          <p:nvPr/>
        </p:nvSpPr>
        <p:spPr>
          <a:xfrm>
            <a:off x="685800" y="3099816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50392" y="3264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1252728" y="32552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610" dirty="0"/>
          </a:p>
        </p:txBody>
      </p:sp>
      <p:sp>
        <p:nvSpPr>
          <p:cNvPr id="57" name="Text 54"/>
          <p:cNvSpPr/>
          <p:nvPr/>
        </p:nvSpPr>
        <p:spPr>
          <a:xfrm>
            <a:off x="2679192" y="31912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Trim + Clean + standardize labels.</a:t>
            </a:r>
            <a:endParaRPr lang="en-US" sz="660" dirty="0"/>
          </a:p>
        </p:txBody>
      </p:sp>
      <p:sp>
        <p:nvSpPr>
          <p:cNvPr id="58" name="Shape 55"/>
          <p:cNvSpPr/>
          <p:nvPr/>
        </p:nvSpPr>
        <p:spPr>
          <a:xfrm>
            <a:off x="6245352" y="3099816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409944" y="3264408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6812280" y="3255264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MISSING</a:t>
            </a:r>
            <a:endParaRPr lang="en-US" sz="610" dirty="0"/>
          </a:p>
        </p:txBody>
      </p:sp>
      <p:sp>
        <p:nvSpPr>
          <p:cNvPr id="61" name="Text 58"/>
          <p:cNvSpPr/>
          <p:nvPr/>
        </p:nvSpPr>
        <p:spPr>
          <a:xfrm>
            <a:off x="8238744" y="3191256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Nulls = قرار Business، مش reflex.</a:t>
            </a:r>
            <a:endParaRPr lang="en-US" sz="660" dirty="0"/>
          </a:p>
        </p:txBody>
      </p:sp>
      <p:sp>
        <p:nvSpPr>
          <p:cNvPr id="62" name="Shape 59"/>
          <p:cNvSpPr/>
          <p:nvPr/>
        </p:nvSpPr>
        <p:spPr>
          <a:xfrm>
            <a:off x="685800" y="3803904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50392" y="39684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1252728" y="395935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</a:t>
            </a:r>
            <a:endParaRPr lang="en-US" sz="610" dirty="0"/>
          </a:p>
        </p:txBody>
      </p:sp>
      <p:sp>
        <p:nvSpPr>
          <p:cNvPr id="65" name="Text 62"/>
          <p:cNvSpPr/>
          <p:nvPr/>
        </p:nvSpPr>
        <p:spPr>
          <a:xfrm>
            <a:off x="2679192" y="389534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افهم سبب الخطأ قبل remove / replace/</a:t>
            </a:r>
            <a:endParaRPr lang="en-US" sz="660" dirty="0"/>
          </a:p>
        </p:txBody>
      </p:sp>
      <p:sp>
        <p:nvSpPr>
          <p:cNvPr id="66" name="Shape 63"/>
          <p:cNvSpPr/>
          <p:nvPr/>
        </p:nvSpPr>
        <p:spPr>
          <a:xfrm>
            <a:off x="6245352" y="3803904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409944" y="3968496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6812280" y="3959352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DUPLICATES</a:t>
            </a:r>
            <a:endParaRPr lang="en-US" sz="610" dirty="0"/>
          </a:p>
        </p:txBody>
      </p:sp>
      <p:sp>
        <p:nvSpPr>
          <p:cNvPr id="69" name="Text 66"/>
          <p:cNvSpPr/>
          <p:nvPr/>
        </p:nvSpPr>
        <p:spPr>
          <a:xfrm>
            <a:off x="8238744" y="3895344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احذف فقط row يكرر نفس الحدث.</a:t>
            </a:r>
            <a:endParaRPr lang="en-US" sz="660" dirty="0"/>
          </a:p>
        </p:txBody>
      </p:sp>
      <p:sp>
        <p:nvSpPr>
          <p:cNvPr id="70" name="Shape 67"/>
          <p:cNvSpPr/>
          <p:nvPr/>
        </p:nvSpPr>
        <p:spPr>
          <a:xfrm>
            <a:off x="685800" y="4507992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50392" y="46725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1252728" y="466344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STEPS</a:t>
            </a:r>
            <a:endParaRPr lang="en-US" sz="610" dirty="0"/>
          </a:p>
        </p:txBody>
      </p:sp>
      <p:sp>
        <p:nvSpPr>
          <p:cNvPr id="73" name="Text 70"/>
          <p:cNvSpPr/>
          <p:nvPr/>
        </p:nvSpPr>
        <p:spPr>
          <a:xfrm>
            <a:off x="2679192" y="4599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Applied Steps قابلة للشرح والـRefresh.</a:t>
            </a:r>
            <a:endParaRPr lang="en-US" sz="660" dirty="0"/>
          </a:p>
        </p:txBody>
      </p:sp>
      <p:sp>
        <p:nvSpPr>
          <p:cNvPr id="74" name="Shape 71"/>
          <p:cNvSpPr/>
          <p:nvPr/>
        </p:nvSpPr>
        <p:spPr>
          <a:xfrm>
            <a:off x="6245352" y="4507992"/>
            <a:ext cx="5074920" cy="530352"/>
          </a:xfrm>
          <a:prstGeom prst="roundRect">
            <a:avLst>
              <a:gd name="adj" fmla="val 20690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409944" y="4672584"/>
            <a:ext cx="2926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6812280" y="4663440"/>
            <a:ext cx="868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1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610" dirty="0"/>
          </a:p>
        </p:txBody>
      </p:sp>
      <p:sp>
        <p:nvSpPr>
          <p:cNvPr id="77" name="Text 74"/>
          <p:cNvSpPr/>
          <p:nvPr/>
        </p:nvSpPr>
        <p:spPr>
          <a:xfrm>
            <a:off x="8238744" y="459943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Row counts + key checks + spot check.</a:t>
            </a:r>
            <a:endParaRPr lang="en-US" sz="660" dirty="0"/>
          </a:p>
        </p:txBody>
      </p:sp>
      <p:sp>
        <p:nvSpPr>
          <p:cNvPr id="78" name="Shape 75"/>
          <p:cNvSpPr/>
          <p:nvPr/>
        </p:nvSpPr>
        <p:spPr>
          <a:xfrm>
            <a:off x="1965960" y="5742432"/>
            <a:ext cx="8229600" cy="594360"/>
          </a:xfrm>
          <a:prstGeom prst="roundRect">
            <a:avLst>
              <a:gd name="adj" fmla="val 18462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2167128" y="5879592"/>
            <a:ext cx="7827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تجعل Power Query يبدو كقائمة أزرار؛ اجعله عملية تفكير.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• AUTOMATE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WED • 23 SEP 2026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Day 03 — قبل الجلسة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اللحظة المهمة اليوم: April يدخل بالـRefresh فقط.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839712" y="1271016"/>
            <a:ext cx="2976372" cy="0"/>
          </a:xfrm>
          <a:prstGeom prst="line">
            <a:avLst/>
          </a:prstGeom>
          <a:noFill/>
          <a:ln w="1524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67512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40080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sz="540" dirty="0"/>
          </a:p>
        </p:txBody>
      </p:sp>
      <p:sp>
        <p:nvSpPr>
          <p:cNvPr id="49" name="Text 46"/>
          <p:cNvSpPr/>
          <p:nvPr/>
        </p:nvSpPr>
        <p:spPr>
          <a:xfrm>
            <a:off x="624535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وصل الأدلة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8092440" y="1124712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781812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</a:t>
            </a:r>
            <a:endParaRPr lang="en-US" sz="540" dirty="0"/>
          </a:p>
        </p:txBody>
      </p:sp>
      <p:sp>
        <p:nvSpPr>
          <p:cNvPr id="52" name="Text 49"/>
          <p:cNvSpPr/>
          <p:nvPr/>
        </p:nvSpPr>
        <p:spPr>
          <a:xfrm>
            <a:off x="766267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6B7280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نظف بثقة</a:t>
            </a:r>
            <a:endParaRPr lang="en-US" sz="620" dirty="0"/>
          </a:p>
        </p:txBody>
      </p:sp>
      <p:sp>
        <p:nvSpPr>
          <p:cNvPr id="53" name="Shape 50"/>
          <p:cNvSpPr/>
          <p:nvPr/>
        </p:nvSpPr>
        <p:spPr>
          <a:xfrm>
            <a:off x="9509760" y="1124712"/>
            <a:ext cx="292608" cy="29260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9235440" y="1563624"/>
            <a:ext cx="8412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</a:t>
            </a:r>
            <a:endParaRPr lang="en-US" sz="540" dirty="0"/>
          </a:p>
        </p:txBody>
      </p:sp>
      <p:sp>
        <p:nvSpPr>
          <p:cNvPr id="55" name="Text 52"/>
          <p:cNvSpPr/>
          <p:nvPr/>
        </p:nvSpPr>
        <p:spPr>
          <a:xfrm>
            <a:off x="9079992" y="1755648"/>
            <a:ext cx="11155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62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أتمت الشهر القادم</a:t>
            </a:r>
            <a:endParaRPr lang="en-US" sz="620" dirty="0"/>
          </a:p>
        </p:txBody>
      </p:sp>
      <p:sp>
        <p:nvSpPr>
          <p:cNvPr id="56" name="Shape 53"/>
          <p:cNvSpPr/>
          <p:nvPr/>
        </p:nvSpPr>
        <p:spPr>
          <a:xfrm>
            <a:off x="658368" y="2487168"/>
            <a:ext cx="6537960" cy="2971800"/>
          </a:xfrm>
          <a:prstGeom prst="roundRect">
            <a:avLst>
              <a:gd name="adj" fmla="val 492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914400" y="2770632"/>
            <a:ext cx="1051560" cy="301752"/>
          </a:xfrm>
          <a:prstGeom prst="roundRect">
            <a:avLst>
              <a:gd name="adj" fmla="val 45455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987552" y="2839212"/>
            <a:ext cx="905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PRE-FLIGHT</a:t>
            </a:r>
            <a:endParaRPr lang="en-US" sz="680" dirty="0"/>
          </a:p>
        </p:txBody>
      </p:sp>
      <p:sp>
        <p:nvSpPr>
          <p:cNvPr id="59" name="Shape 56"/>
          <p:cNvSpPr/>
          <p:nvPr/>
        </p:nvSpPr>
        <p:spPr>
          <a:xfrm>
            <a:off x="941832" y="3291840"/>
            <a:ext cx="201168" cy="20116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960120" y="332384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61" name="Text 58"/>
          <p:cNvSpPr/>
          <p:nvPr/>
        </p:nvSpPr>
        <p:spPr>
          <a:xfrm>
            <a:off x="1234440" y="3273552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تأكد أن Day03_STOP_COPYING_FILES_LEARNER.zip متاح.</a:t>
            </a:r>
            <a:endParaRPr lang="en-US" sz="900" dirty="0"/>
          </a:p>
        </p:txBody>
      </p:sp>
      <p:sp>
        <p:nvSpPr>
          <p:cNvPr id="62" name="Shape 59"/>
          <p:cNvSpPr/>
          <p:nvPr/>
        </p:nvSpPr>
        <p:spPr>
          <a:xfrm>
            <a:off x="941832" y="3694176"/>
            <a:ext cx="201168" cy="20116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60120" y="372618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64" name="Text 61"/>
          <p:cNvSpPr/>
          <p:nvPr/>
        </p:nvSpPr>
        <p:spPr>
          <a:xfrm>
            <a:off x="1234440" y="3675888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تضع April داخل Folder من البداية.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941832" y="4096512"/>
            <a:ext cx="201168" cy="20116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960120" y="412851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67" name="Text 64"/>
          <p:cNvSpPr/>
          <p:nvPr/>
        </p:nvSpPr>
        <p:spPr>
          <a:xfrm>
            <a:off x="1234440" y="4078224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تحقق أن Jan–Mar هي نفس 120K rows من Day 1.</a:t>
            </a:r>
            <a:endParaRPr lang="en-US" sz="900" dirty="0"/>
          </a:p>
        </p:txBody>
      </p:sp>
      <p:sp>
        <p:nvSpPr>
          <p:cNvPr id="68" name="Shape 65"/>
          <p:cNvSpPr/>
          <p:nvPr/>
        </p:nvSpPr>
        <p:spPr>
          <a:xfrm>
            <a:off x="941832" y="4498848"/>
            <a:ext cx="201168" cy="20116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960120" y="453085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70" name="Text 67"/>
          <p:cNvSpPr/>
          <p:nvPr/>
        </p:nvSpPr>
        <p:spPr>
          <a:xfrm>
            <a:off x="1234440" y="4480560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جهّز Branch / Customer / Product Masters للـMerge.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941832" y="4901184"/>
            <a:ext cx="201168" cy="201168"/>
          </a:xfrm>
          <a:prstGeom prst="ellipse">
            <a:avLst/>
          </a:prstGeom>
          <a:solidFill>
            <a:srgbClr val="695CFF"/>
          </a:solidFill>
          <a:ln w="12700">
            <a:solidFill>
              <a:srgbClr val="695CFF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60120" y="493318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50" dirty="0"/>
          </a:p>
        </p:txBody>
      </p:sp>
      <p:sp>
        <p:nvSpPr>
          <p:cNvPr id="73" name="Text 70"/>
          <p:cNvSpPr/>
          <p:nvPr/>
        </p:nvSpPr>
        <p:spPr>
          <a:xfrm>
            <a:off x="1234440" y="4882896"/>
            <a:ext cx="5422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حدد Final Query واحدة فقط للـLoad.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>
            <a:off x="7479792" y="2487168"/>
            <a:ext cx="4041648" cy="2971800"/>
          </a:xfrm>
          <a:prstGeom prst="roundRect">
            <a:avLst>
              <a:gd name="adj" fmla="val 4923"/>
            </a:avLst>
          </a:prstGeom>
          <a:solidFill>
            <a:srgbClr val="F0EE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7772400" y="2816352"/>
            <a:ext cx="3429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الملف الذي تعطيه</a:t>
            </a:r>
            <a:endParaRPr lang="en-US" sz="1300" dirty="0"/>
          </a:p>
        </p:txBody>
      </p:sp>
      <p:sp>
        <p:nvSpPr>
          <p:cNvPr id="76" name="Shape 73"/>
          <p:cNvSpPr/>
          <p:nvPr/>
        </p:nvSpPr>
        <p:spPr>
          <a:xfrm>
            <a:off x="7772400" y="3438144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7863840" y="35661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AUTOMATION PACK</a:t>
            </a:r>
            <a:endParaRPr lang="en-US" sz="700" dirty="0"/>
          </a:p>
        </p:txBody>
      </p:sp>
      <p:sp>
        <p:nvSpPr>
          <p:cNvPr id="78" name="Shape 75">
            <a:hlinkClick r:id="rId3" tooltip=""/>
          </p:cNvPr>
          <p:cNvSpPr/>
          <p:nvPr/>
        </p:nvSpPr>
        <p:spPr>
          <a:xfrm>
            <a:off x="7772400" y="3438144"/>
            <a:ext cx="2286000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7772400" y="4224528"/>
            <a:ext cx="3429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6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Jan–Mar × 40K + April refresh proof + Branch / Customer / Product Masters.</a:t>
            </a:r>
            <a:endParaRPr lang="en-US" sz="9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• AUTOMATE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SUGGESTED 120-MIN FLOW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Run of Show — Day 03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التركيز: scalable process، لا monthly manual work.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58368" y="2606040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804672" y="276148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00–10</a:t>
            </a:r>
            <a:endParaRPr lang="en-US" sz="620" dirty="0"/>
          </a:p>
        </p:txBody>
      </p:sp>
      <p:sp>
        <p:nvSpPr>
          <p:cNvPr id="48" name="Text 45"/>
          <p:cNvSpPr/>
          <p:nvPr/>
        </p:nvSpPr>
        <p:spPr>
          <a:xfrm>
            <a:off x="1463040" y="274320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PAIN</a:t>
            </a:r>
            <a:endParaRPr lang="en-US" sz="560" dirty="0"/>
          </a:p>
        </p:txBody>
      </p:sp>
      <p:sp>
        <p:nvSpPr>
          <p:cNvPr id="49" name="Text 46"/>
          <p:cNvSpPr/>
          <p:nvPr/>
        </p:nvSpPr>
        <p:spPr>
          <a:xfrm>
            <a:off x="2560320" y="2697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هل سنكرر الشغل كل شهر؟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6217920" y="2606040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6364224" y="2761488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F59E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10–30</a:t>
            </a:r>
            <a:endParaRPr lang="en-US" sz="620" dirty="0"/>
          </a:p>
        </p:txBody>
      </p:sp>
      <p:sp>
        <p:nvSpPr>
          <p:cNvPr id="52" name="Text 49"/>
          <p:cNvSpPr/>
          <p:nvPr/>
        </p:nvSpPr>
        <p:spPr>
          <a:xfrm>
            <a:off x="7022592" y="2743200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</a:t>
            </a:r>
            <a:endParaRPr lang="en-US" sz="560" dirty="0"/>
          </a:p>
        </p:txBody>
      </p:sp>
      <p:sp>
        <p:nvSpPr>
          <p:cNvPr id="53" name="Text 50"/>
          <p:cNvSpPr/>
          <p:nvPr/>
        </p:nvSpPr>
        <p:spPr>
          <a:xfrm>
            <a:off x="8119872" y="269748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Get Data &gt; Folder + Combine.</a:t>
            </a:r>
            <a:endParaRPr lang="en-US" sz="620" dirty="0"/>
          </a:p>
        </p:txBody>
      </p:sp>
      <p:sp>
        <p:nvSpPr>
          <p:cNvPr id="54" name="Shape 51"/>
          <p:cNvSpPr/>
          <p:nvPr/>
        </p:nvSpPr>
        <p:spPr>
          <a:xfrm>
            <a:off x="658368" y="3282696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804672" y="343814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30–45</a:t>
            </a:r>
            <a:endParaRPr lang="en-US" sz="620" dirty="0"/>
          </a:p>
        </p:txBody>
      </p:sp>
      <p:sp>
        <p:nvSpPr>
          <p:cNvPr id="56" name="Text 53"/>
          <p:cNvSpPr/>
          <p:nvPr/>
        </p:nvSpPr>
        <p:spPr>
          <a:xfrm>
            <a:off x="1463040" y="3419856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 NAME</a:t>
            </a:r>
            <a:endParaRPr lang="en-US" sz="560" dirty="0"/>
          </a:p>
        </p:txBody>
      </p:sp>
      <p:sp>
        <p:nvSpPr>
          <p:cNvPr id="57" name="Text 54"/>
          <p:cNvSpPr/>
          <p:nvPr/>
        </p:nvSpPr>
        <p:spPr>
          <a:xfrm>
            <a:off x="2560320" y="33741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احتفظ Source File Name.</a:t>
            </a:r>
            <a:endParaRPr lang="en-US" sz="620" dirty="0"/>
          </a:p>
        </p:txBody>
      </p:sp>
      <p:sp>
        <p:nvSpPr>
          <p:cNvPr id="58" name="Shape 55"/>
          <p:cNvSpPr/>
          <p:nvPr/>
        </p:nvSpPr>
        <p:spPr>
          <a:xfrm>
            <a:off x="6217920" y="3282696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6364224" y="3438144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45–70</a:t>
            </a:r>
            <a:endParaRPr lang="en-US" sz="620" dirty="0"/>
          </a:p>
        </p:txBody>
      </p:sp>
      <p:sp>
        <p:nvSpPr>
          <p:cNvPr id="60" name="Text 57"/>
          <p:cNvSpPr/>
          <p:nvPr/>
        </p:nvSpPr>
        <p:spPr>
          <a:xfrm>
            <a:off x="7022592" y="3419856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</a:t>
            </a:r>
            <a:endParaRPr lang="en-US" sz="560" dirty="0"/>
          </a:p>
        </p:txBody>
      </p:sp>
      <p:sp>
        <p:nvSpPr>
          <p:cNvPr id="61" name="Text 58"/>
          <p:cNvSpPr/>
          <p:nvPr/>
        </p:nvSpPr>
        <p:spPr>
          <a:xfrm>
            <a:off x="8119872" y="3374136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Branch → Customer → Product.</a:t>
            </a:r>
            <a:endParaRPr lang="en-US" sz="620" dirty="0"/>
          </a:p>
        </p:txBody>
      </p:sp>
      <p:sp>
        <p:nvSpPr>
          <p:cNvPr id="62" name="Shape 59"/>
          <p:cNvSpPr/>
          <p:nvPr/>
        </p:nvSpPr>
        <p:spPr>
          <a:xfrm>
            <a:off x="658368" y="3959352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804672" y="41148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70–85</a:t>
            </a:r>
            <a:endParaRPr lang="en-US" sz="620" dirty="0"/>
          </a:p>
        </p:txBody>
      </p:sp>
      <p:sp>
        <p:nvSpPr>
          <p:cNvPr id="64" name="Text 61"/>
          <p:cNvSpPr/>
          <p:nvPr/>
        </p:nvSpPr>
        <p:spPr>
          <a:xfrm>
            <a:off x="1463040" y="4096512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</a:t>
            </a:r>
            <a:endParaRPr lang="en-US" sz="560" dirty="0"/>
          </a:p>
        </p:txBody>
      </p:sp>
      <p:sp>
        <p:nvSpPr>
          <p:cNvPr id="65" name="Text 62"/>
          <p:cNvSpPr/>
          <p:nvPr/>
        </p:nvSpPr>
        <p:spPr>
          <a:xfrm>
            <a:off x="2560320" y="40507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Duplicate vs Reference.</a:t>
            </a:r>
            <a:endParaRPr lang="en-US" sz="620" dirty="0"/>
          </a:p>
        </p:txBody>
      </p:sp>
      <p:sp>
        <p:nvSpPr>
          <p:cNvPr id="66" name="Shape 63"/>
          <p:cNvSpPr/>
          <p:nvPr/>
        </p:nvSpPr>
        <p:spPr>
          <a:xfrm>
            <a:off x="6217920" y="3959352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364224" y="4114800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85–100</a:t>
            </a:r>
            <a:endParaRPr lang="en-US" sz="620" dirty="0"/>
          </a:p>
        </p:txBody>
      </p:sp>
      <p:sp>
        <p:nvSpPr>
          <p:cNvPr id="68" name="Text 65"/>
          <p:cNvSpPr/>
          <p:nvPr/>
        </p:nvSpPr>
        <p:spPr>
          <a:xfrm>
            <a:off x="7022592" y="4096512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</a:t>
            </a:r>
            <a:endParaRPr lang="en-US" sz="560" dirty="0"/>
          </a:p>
        </p:txBody>
      </p:sp>
      <p:sp>
        <p:nvSpPr>
          <p:cNvPr id="69" name="Text 66"/>
          <p:cNvSpPr/>
          <p:nvPr/>
        </p:nvSpPr>
        <p:spPr>
          <a:xfrm>
            <a:off x="8119872" y="405079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Final analytical query فقط.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658368" y="4636008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804672" y="479145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100–112</a:t>
            </a:r>
            <a:endParaRPr lang="en-US" sz="620" dirty="0"/>
          </a:p>
        </p:txBody>
      </p:sp>
      <p:sp>
        <p:nvSpPr>
          <p:cNvPr id="72" name="Text 69"/>
          <p:cNvSpPr/>
          <p:nvPr/>
        </p:nvSpPr>
        <p:spPr>
          <a:xfrm>
            <a:off x="1463040" y="4773168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 PROOF</a:t>
            </a:r>
            <a:endParaRPr lang="en-US" sz="560" dirty="0"/>
          </a:p>
        </p:txBody>
      </p:sp>
      <p:sp>
        <p:nvSpPr>
          <p:cNvPr id="73" name="Text 70"/>
          <p:cNvSpPr/>
          <p:nvPr/>
        </p:nvSpPr>
        <p:spPr>
          <a:xfrm>
            <a:off x="2560320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Drop April → Refresh.</a:t>
            </a:r>
            <a:endParaRPr lang="en-US" sz="620" dirty="0"/>
          </a:p>
        </p:txBody>
      </p:sp>
      <p:sp>
        <p:nvSpPr>
          <p:cNvPr id="74" name="Shape 71"/>
          <p:cNvSpPr/>
          <p:nvPr/>
        </p:nvSpPr>
        <p:spPr>
          <a:xfrm>
            <a:off x="6217920" y="4636008"/>
            <a:ext cx="5120640" cy="512064"/>
          </a:xfrm>
          <a:prstGeom prst="roundRect">
            <a:avLst>
              <a:gd name="adj" fmla="val 19643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6364224" y="4791456"/>
            <a:ext cx="5852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112–120</a:t>
            </a:r>
            <a:endParaRPr lang="en-US" sz="620" dirty="0"/>
          </a:p>
        </p:txBody>
      </p:sp>
      <p:sp>
        <p:nvSpPr>
          <p:cNvPr id="76" name="Text 73"/>
          <p:cNvSpPr/>
          <p:nvPr/>
        </p:nvSpPr>
        <p:spPr>
          <a:xfrm>
            <a:off x="7022592" y="4773168"/>
            <a:ext cx="10607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560" dirty="0"/>
          </a:p>
        </p:txBody>
      </p:sp>
      <p:sp>
        <p:nvSpPr>
          <p:cNvPr id="77" name="Text 74"/>
          <p:cNvSpPr/>
          <p:nvPr/>
        </p:nvSpPr>
        <p:spPr>
          <a:xfrm>
            <a:off x="8119872" y="472744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6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اربط بالشهر القادم.</a:t>
            </a:r>
            <a:endParaRPr lang="en-US" sz="620" dirty="0"/>
          </a:p>
        </p:txBody>
      </p:sp>
      <p:sp>
        <p:nvSpPr>
          <p:cNvPr id="78" name="Shape 75"/>
          <p:cNvSpPr/>
          <p:nvPr/>
        </p:nvSpPr>
        <p:spPr>
          <a:xfrm>
            <a:off x="1188720" y="5806440"/>
            <a:ext cx="9829800" cy="594360"/>
          </a:xfrm>
          <a:prstGeom prst="roundRect">
            <a:avLst>
              <a:gd name="adj" fmla="val 18462"/>
            </a:avLst>
          </a:prstGeom>
          <a:solidFill>
            <a:srgbClr val="F0EE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389888" y="5943600"/>
            <a:ext cx="9427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النجاح الحقيقي: إضافة April بدون Copy/Paste أو تعديل يدوي في Power Query.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 • AUTOMATE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 ARCHITECTURE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الصورة التي ترسمها لهم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خليهم يفهموا الـflow بصرياً قبل التفاصيل التقنية.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822960" y="2834640"/>
            <a:ext cx="20574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05840" y="3063240"/>
            <a:ext cx="41148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78992" y="3131820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1517904" y="3072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MONTHLY FILES</a:t>
            </a:r>
            <a:endParaRPr lang="en-US" sz="720" dirty="0"/>
          </a:p>
        </p:txBody>
      </p:sp>
      <p:sp>
        <p:nvSpPr>
          <p:cNvPr id="50" name="Text 47"/>
          <p:cNvSpPr/>
          <p:nvPr/>
        </p:nvSpPr>
        <p:spPr>
          <a:xfrm>
            <a:off x="1143000" y="34564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• Feb • Mar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3657600" y="2834640"/>
            <a:ext cx="20574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3840480" y="3063240"/>
            <a:ext cx="41148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913632" y="3131820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680" dirty="0"/>
          </a:p>
        </p:txBody>
      </p:sp>
      <p:sp>
        <p:nvSpPr>
          <p:cNvPr id="54" name="Text 51"/>
          <p:cNvSpPr/>
          <p:nvPr/>
        </p:nvSpPr>
        <p:spPr>
          <a:xfrm>
            <a:off x="4352544" y="3072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FOLDER QUERY</a:t>
            </a:r>
            <a:endParaRPr lang="en-US" sz="720" dirty="0"/>
          </a:p>
        </p:txBody>
      </p:sp>
      <p:sp>
        <p:nvSpPr>
          <p:cNvPr id="55" name="Text 52"/>
          <p:cNvSpPr/>
          <p:nvPr/>
        </p:nvSpPr>
        <p:spPr>
          <a:xfrm>
            <a:off x="3977640" y="34564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+ clean</a:t>
            </a:r>
            <a:endParaRPr lang="en-US" sz="580" dirty="0"/>
          </a:p>
        </p:txBody>
      </p:sp>
      <p:sp>
        <p:nvSpPr>
          <p:cNvPr id="56" name="Shape 53"/>
          <p:cNvSpPr/>
          <p:nvPr/>
        </p:nvSpPr>
        <p:spPr>
          <a:xfrm>
            <a:off x="6492240" y="2834640"/>
            <a:ext cx="2057400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675120" y="3063240"/>
            <a:ext cx="411480" cy="301752"/>
          </a:xfrm>
          <a:prstGeom prst="roundRect">
            <a:avLst>
              <a:gd name="adj" fmla="val 45455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748272" y="3131820"/>
            <a:ext cx="2651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680" dirty="0"/>
          </a:p>
        </p:txBody>
      </p:sp>
      <p:sp>
        <p:nvSpPr>
          <p:cNvPr id="59" name="Text 56"/>
          <p:cNvSpPr/>
          <p:nvPr/>
        </p:nvSpPr>
        <p:spPr>
          <a:xfrm>
            <a:off x="7187184" y="30723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SALES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6812280" y="3456432"/>
            <a:ext cx="1417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analytical table</a:t>
            </a:r>
            <a:endParaRPr lang="en-US" sz="580" dirty="0"/>
          </a:p>
        </p:txBody>
      </p:sp>
      <p:sp>
        <p:nvSpPr>
          <p:cNvPr id="61" name="Shape 58"/>
          <p:cNvSpPr/>
          <p:nvPr/>
        </p:nvSpPr>
        <p:spPr>
          <a:xfrm>
            <a:off x="3063240" y="3337560"/>
            <a:ext cx="256032" cy="4389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897880" y="3337560"/>
            <a:ext cx="256032" cy="438912"/>
          </a:xfrm>
          <a:prstGeom prst="chevron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98280" y="2578608"/>
            <a:ext cx="2240280" cy="1673352"/>
          </a:xfrm>
          <a:prstGeom prst="roundRect">
            <a:avLst>
              <a:gd name="adj" fmla="val 8743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9308592" y="280720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MERGE MASTERS</a:t>
            </a:r>
            <a:endParaRPr lang="en-US" sz="720" dirty="0"/>
          </a:p>
        </p:txBody>
      </p:sp>
      <p:sp>
        <p:nvSpPr>
          <p:cNvPr id="65" name="Text 62"/>
          <p:cNvSpPr/>
          <p:nvPr/>
        </p:nvSpPr>
        <p:spPr>
          <a:xfrm>
            <a:off x="9272016" y="3246120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• CUSTOMER • PRODUCT</a:t>
            </a:r>
            <a:endParaRPr lang="en-US" sz="530" dirty="0"/>
          </a:p>
        </p:txBody>
      </p:sp>
      <p:sp>
        <p:nvSpPr>
          <p:cNvPr id="66" name="Text 63"/>
          <p:cNvSpPr/>
          <p:nvPr/>
        </p:nvSpPr>
        <p:spPr>
          <a:xfrm>
            <a:off x="9308592" y="3538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82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يعطي معنى للأكواد</a:t>
            </a:r>
            <a:endParaRPr lang="en-US" sz="820" dirty="0"/>
          </a:p>
        </p:txBody>
      </p:sp>
      <p:sp>
        <p:nvSpPr>
          <p:cNvPr id="67" name="Shape 64"/>
          <p:cNvSpPr/>
          <p:nvPr/>
        </p:nvSpPr>
        <p:spPr>
          <a:xfrm>
            <a:off x="1188720" y="4937760"/>
            <a:ext cx="9829800" cy="749808"/>
          </a:xfrm>
          <a:prstGeom prst="roundRect">
            <a:avLst>
              <a:gd name="adj" fmla="val 17073"/>
            </a:avLst>
          </a:prstGeom>
          <a:solidFill>
            <a:srgbClr val="F0EE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1481328" y="5184648"/>
            <a:ext cx="914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695C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APRIL.csv</a:t>
            </a:r>
            <a:endParaRPr lang="en-US" sz="800" dirty="0"/>
          </a:p>
        </p:txBody>
      </p:sp>
      <p:sp>
        <p:nvSpPr>
          <p:cNvPr id="69" name="Text 66"/>
          <p:cNvSpPr/>
          <p:nvPr/>
        </p:nvSpPr>
        <p:spPr>
          <a:xfrm>
            <a:off x="2606040" y="5138928"/>
            <a:ext cx="8001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08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Drop into folder → Refresh → rows appear بدون Copy / Paste</a:t>
            </a:r>
            <a:endParaRPr lang="en-US" sz="10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MATERIALS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MATERIAL MATRIX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كل الروابط في صفحة واحدة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إذا ضعت أثناء الجلسة، افتح المطلوب من هنا مباشرة.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594360" y="2359152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740664" y="2496312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13816" y="256489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</a:t>
            </a:r>
            <a:endParaRPr lang="en-US" sz="680" dirty="0"/>
          </a:p>
        </p:txBody>
      </p:sp>
      <p:sp>
        <p:nvSpPr>
          <p:cNvPr id="49" name="Text 46"/>
          <p:cNvSpPr/>
          <p:nvPr/>
        </p:nvSpPr>
        <p:spPr>
          <a:xfrm>
            <a:off x="1709928" y="252374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Microsoft Teams</a:t>
            </a:r>
            <a:endParaRPr lang="en-US" sz="660" dirty="0"/>
          </a:p>
        </p:txBody>
      </p:sp>
      <p:sp>
        <p:nvSpPr>
          <p:cNvPr id="50" name="Shape 47"/>
          <p:cNvSpPr/>
          <p:nvPr/>
        </p:nvSpPr>
        <p:spPr>
          <a:xfrm>
            <a:off x="5001768" y="2468880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93208" y="259689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52" name="Shape 49">
            <a:hlinkClick r:id="rId3" tooltip=""/>
          </p:cNvPr>
          <p:cNvSpPr/>
          <p:nvPr/>
        </p:nvSpPr>
        <p:spPr>
          <a:xfrm>
            <a:off x="5001768" y="2468880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217920" y="2359152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364224" y="2496312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7376" y="2564892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HUB</a:t>
            </a:r>
            <a:endParaRPr lang="en-US" sz="680" dirty="0"/>
          </a:p>
        </p:txBody>
      </p:sp>
      <p:sp>
        <p:nvSpPr>
          <p:cNvPr id="56" name="Text 53"/>
          <p:cNvSpPr/>
          <p:nvPr/>
        </p:nvSpPr>
        <p:spPr>
          <a:xfrm>
            <a:off x="7333488" y="2523744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site</a:t>
            </a:r>
            <a:endParaRPr lang="en-US" sz="660" dirty="0"/>
          </a:p>
        </p:txBody>
      </p:sp>
      <p:sp>
        <p:nvSpPr>
          <p:cNvPr id="57" name="Shape 54"/>
          <p:cNvSpPr/>
          <p:nvPr/>
        </p:nvSpPr>
        <p:spPr>
          <a:xfrm>
            <a:off x="10625328" y="2468880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10716768" y="2596896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59" name="Shape 56">
            <a:hlinkClick r:id="rId4" tooltip=""/>
          </p:cNvPr>
          <p:cNvSpPr/>
          <p:nvPr/>
        </p:nvSpPr>
        <p:spPr>
          <a:xfrm>
            <a:off x="10625328" y="2468880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594360" y="3127248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40664" y="3264408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813816" y="333298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80" dirty="0"/>
          </a:p>
        </p:txBody>
      </p:sp>
      <p:sp>
        <p:nvSpPr>
          <p:cNvPr id="63" name="Text 60"/>
          <p:cNvSpPr/>
          <p:nvPr/>
        </p:nvSpPr>
        <p:spPr>
          <a:xfrm>
            <a:off x="1709928" y="3291840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Meet Nova — Company Profile</a:t>
            </a:r>
            <a:endParaRPr lang="en-US" sz="660" dirty="0"/>
          </a:p>
        </p:txBody>
      </p:sp>
      <p:sp>
        <p:nvSpPr>
          <p:cNvPr id="64" name="Shape 61"/>
          <p:cNvSpPr/>
          <p:nvPr/>
        </p:nvSpPr>
        <p:spPr>
          <a:xfrm>
            <a:off x="5001768" y="3236976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093208" y="33649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66" name="Shape 63">
            <a:hlinkClick r:id="rId5" tooltip=""/>
          </p:cNvPr>
          <p:cNvSpPr/>
          <p:nvPr/>
        </p:nvSpPr>
        <p:spPr>
          <a:xfrm>
            <a:off x="5001768" y="3236976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6217920" y="3127248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364224" y="3264408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437376" y="3332988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80" dirty="0"/>
          </a:p>
        </p:txBody>
      </p:sp>
      <p:sp>
        <p:nvSpPr>
          <p:cNvPr id="70" name="Text 67"/>
          <p:cNvSpPr/>
          <p:nvPr/>
        </p:nvSpPr>
        <p:spPr>
          <a:xfrm>
            <a:off x="7333488" y="3291840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Desktop Download</a:t>
            </a:r>
            <a:endParaRPr lang="en-US" sz="660" dirty="0"/>
          </a:p>
        </p:txBody>
      </p:sp>
      <p:sp>
        <p:nvSpPr>
          <p:cNvPr id="71" name="Shape 68"/>
          <p:cNvSpPr/>
          <p:nvPr/>
        </p:nvSpPr>
        <p:spPr>
          <a:xfrm>
            <a:off x="10625328" y="3236976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10716768" y="3364992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73" name="Shape 70">
            <a:hlinkClick r:id="rId6" tooltip=""/>
          </p:cNvPr>
          <p:cNvSpPr/>
          <p:nvPr/>
        </p:nvSpPr>
        <p:spPr>
          <a:xfrm>
            <a:off x="10625328" y="3236976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94360" y="3895344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740664" y="4032504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813816" y="410108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80" dirty="0"/>
          </a:p>
        </p:txBody>
      </p:sp>
      <p:sp>
        <p:nvSpPr>
          <p:cNvPr id="77" name="Text 74"/>
          <p:cNvSpPr/>
          <p:nvPr/>
        </p:nvSpPr>
        <p:spPr>
          <a:xfrm>
            <a:off x="1709928" y="4059936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Source Pack</a:t>
            </a:r>
            <a:endParaRPr lang="en-US" sz="660" dirty="0"/>
          </a:p>
        </p:txBody>
      </p:sp>
      <p:sp>
        <p:nvSpPr>
          <p:cNvPr id="78" name="Shape 75"/>
          <p:cNvSpPr/>
          <p:nvPr/>
        </p:nvSpPr>
        <p:spPr>
          <a:xfrm>
            <a:off x="5001768" y="4005072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5093208" y="413308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80" name="Shape 77">
            <a:hlinkClick r:id="rId7" tooltip=""/>
          </p:cNvPr>
          <p:cNvSpPr/>
          <p:nvPr/>
        </p:nvSpPr>
        <p:spPr>
          <a:xfrm>
            <a:off x="5001768" y="4005072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6217920" y="3895344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6364224" y="4032504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437376" y="4101084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01</a:t>
            </a:r>
            <a:endParaRPr lang="en-US" sz="680" dirty="0"/>
          </a:p>
        </p:txBody>
      </p:sp>
      <p:sp>
        <p:nvSpPr>
          <p:cNvPr id="84" name="Text 81"/>
          <p:cNvSpPr/>
          <p:nvPr/>
        </p:nvSpPr>
        <p:spPr>
          <a:xfrm>
            <a:off x="7333488" y="4059936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Performance Web Source</a:t>
            </a:r>
            <a:endParaRPr lang="en-US" sz="660" dirty="0"/>
          </a:p>
        </p:txBody>
      </p:sp>
      <p:sp>
        <p:nvSpPr>
          <p:cNvPr id="85" name="Shape 82"/>
          <p:cNvSpPr/>
          <p:nvPr/>
        </p:nvSpPr>
        <p:spPr>
          <a:xfrm>
            <a:off x="10625328" y="4005072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10716768" y="4133088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87" name="Shape 84">
            <a:hlinkClick r:id="rId8" tooltip=""/>
          </p:cNvPr>
          <p:cNvSpPr/>
          <p:nvPr/>
        </p:nvSpPr>
        <p:spPr>
          <a:xfrm>
            <a:off x="10625328" y="4005072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594360" y="4663440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740664" y="4800600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813816" y="486918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02</a:t>
            </a:r>
            <a:endParaRPr lang="en-US" sz="680" dirty="0"/>
          </a:p>
        </p:txBody>
      </p:sp>
      <p:sp>
        <p:nvSpPr>
          <p:cNvPr id="91" name="Text 88"/>
          <p:cNvSpPr/>
          <p:nvPr/>
        </p:nvSpPr>
        <p:spPr>
          <a:xfrm>
            <a:off x="1709928" y="4828032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Cleaning Lab</a:t>
            </a:r>
            <a:endParaRPr lang="en-US" sz="660" dirty="0"/>
          </a:p>
        </p:txBody>
      </p:sp>
      <p:sp>
        <p:nvSpPr>
          <p:cNvPr id="92" name="Shape 89"/>
          <p:cNvSpPr/>
          <p:nvPr/>
        </p:nvSpPr>
        <p:spPr>
          <a:xfrm>
            <a:off x="5001768" y="4773168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5093208" y="490118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94" name="Shape 91">
            <a:hlinkClick r:id="rId9" tooltip=""/>
          </p:cNvPr>
          <p:cNvSpPr/>
          <p:nvPr/>
        </p:nvSpPr>
        <p:spPr>
          <a:xfrm>
            <a:off x="5001768" y="4773168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6217920" y="4663440"/>
            <a:ext cx="5285232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364224" y="4800600"/>
            <a:ext cx="822960" cy="301752"/>
          </a:xfrm>
          <a:prstGeom prst="roundRect">
            <a:avLst>
              <a:gd name="adj" fmla="val 45455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97" name="Text 94"/>
          <p:cNvSpPr/>
          <p:nvPr/>
        </p:nvSpPr>
        <p:spPr>
          <a:xfrm>
            <a:off x="6437376" y="4869180"/>
            <a:ext cx="6766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03</a:t>
            </a:r>
            <a:endParaRPr lang="en-US" sz="680" dirty="0"/>
          </a:p>
        </p:txBody>
      </p:sp>
      <p:sp>
        <p:nvSpPr>
          <p:cNvPr id="98" name="Text 95"/>
          <p:cNvSpPr/>
          <p:nvPr/>
        </p:nvSpPr>
        <p:spPr>
          <a:xfrm>
            <a:off x="7333488" y="4828032"/>
            <a:ext cx="3154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Nova Automation Pack</a:t>
            </a:r>
            <a:endParaRPr lang="en-US" sz="660" dirty="0"/>
          </a:p>
        </p:txBody>
      </p:sp>
      <p:sp>
        <p:nvSpPr>
          <p:cNvPr id="99" name="Shape 96"/>
          <p:cNvSpPr/>
          <p:nvPr/>
        </p:nvSpPr>
        <p:spPr>
          <a:xfrm>
            <a:off x="10625328" y="4773168"/>
            <a:ext cx="694944" cy="411480"/>
          </a:xfrm>
          <a:prstGeom prst="roundRect">
            <a:avLst>
              <a:gd name="adj" fmla="val 26667"/>
            </a:avLst>
          </a:prstGeom>
          <a:solidFill>
            <a:srgbClr val="695C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10716768" y="4901184"/>
            <a:ext cx="5120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</a:t>
            </a:r>
            <a:endParaRPr lang="en-US" sz="700" dirty="0"/>
          </a:p>
        </p:txBody>
      </p:sp>
      <p:sp>
        <p:nvSpPr>
          <p:cNvPr id="101" name="Shape 98">
            <a:hlinkClick r:id="rId10" tooltip=""/>
          </p:cNvPr>
          <p:cNvSpPr/>
          <p:nvPr/>
        </p:nvSpPr>
        <p:spPr>
          <a:xfrm>
            <a:off x="10625328" y="4773168"/>
            <a:ext cx="694944" cy="41148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1874520" y="580644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E7F6F6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2075688" y="59436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Trainer hub: baselghanem.github.io/PowerBi-Intro/Trainer/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887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830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774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718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661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548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492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379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3210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9154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10412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69848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29284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887200" y="0"/>
            <a:ext cx="0" cy="685800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5943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11887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7830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23774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9718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35661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416052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475488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534924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94360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6537960"/>
            <a:ext cx="12191695" cy="0"/>
          </a:xfrm>
          <a:prstGeom prst="line">
            <a:avLst/>
          </a:prstGeom>
          <a:noFill/>
          <a:ln w="3810">
            <a:solidFill>
              <a:srgbClr val="F1F3F5">
                <a:alpha val="80000"/>
              </a:srgbClr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1480" y="256032"/>
            <a:ext cx="310896" cy="310896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832104" y="269748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 Academy</a:t>
            </a:r>
            <a:endParaRPr lang="en-US" sz="740" dirty="0"/>
          </a:p>
        </p:txBody>
      </p:sp>
      <p:sp>
        <p:nvSpPr>
          <p:cNvPr id="37" name="Text 34"/>
          <p:cNvSpPr/>
          <p:nvPr/>
        </p:nvSpPr>
        <p:spPr>
          <a:xfrm>
            <a:off x="832104" y="429768"/>
            <a:ext cx="141732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49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Learn. Analyse. Lead.</a:t>
            </a:r>
            <a:endParaRPr lang="en-US" sz="490" dirty="0"/>
          </a:p>
        </p:txBody>
      </p:sp>
      <p:sp>
        <p:nvSpPr>
          <p:cNvPr id="38" name="Text 35"/>
          <p:cNvSpPr/>
          <p:nvPr/>
        </p:nvSpPr>
        <p:spPr>
          <a:xfrm>
            <a:off x="8808415" y="338328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4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WEEK 01 • CLOSEOUT</a:t>
            </a:r>
            <a:endParaRPr lang="en-US" sz="640" dirty="0"/>
          </a:p>
        </p:txBody>
      </p:sp>
      <p:sp>
        <p:nvSpPr>
          <p:cNvPr id="39" name="Shape 36"/>
          <p:cNvSpPr/>
          <p:nvPr/>
        </p:nvSpPr>
        <p:spPr>
          <a:xfrm>
            <a:off x="411480" y="749808"/>
            <a:ext cx="1136873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11480" y="6419088"/>
            <a:ext cx="11368735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411480" y="6510528"/>
            <a:ext cx="31089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 BI Specialist — Week 1 Trainer Playbook</a:t>
            </a:r>
            <a:endParaRPr lang="en-US" sz="580" dirty="0"/>
          </a:p>
        </p:txBody>
      </p:sp>
      <p:sp>
        <p:nvSpPr>
          <p:cNvPr id="42" name="Text 39"/>
          <p:cNvSpPr/>
          <p:nvPr/>
        </p:nvSpPr>
        <p:spPr>
          <a:xfrm>
            <a:off x="11505895" y="6510528"/>
            <a:ext cx="274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580" dirty="0"/>
          </a:p>
        </p:txBody>
      </p:sp>
      <p:sp>
        <p:nvSpPr>
          <p:cNvPr id="43" name="Text 40"/>
          <p:cNvSpPr/>
          <p:nvPr/>
        </p:nvSpPr>
        <p:spPr>
          <a:xfrm>
            <a:off x="566928" y="96012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0999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 OF WEEK 01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566928" y="119786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23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ماذا يجب أن يكون موجوداً بنهاية الأربعاء؟</a:t>
            </a:r>
            <a:endParaRPr lang="en-US" sz="2300" dirty="0"/>
          </a:p>
        </p:txBody>
      </p:sp>
      <p:sp>
        <p:nvSpPr>
          <p:cNvPr id="45" name="Text 42"/>
          <p:cNvSpPr/>
          <p:nvPr/>
        </p:nvSpPr>
        <p:spPr>
          <a:xfrm>
            <a:off x="566928" y="1783080"/>
            <a:ext cx="5669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980" dirty="0">
                <a:solidFill>
                  <a:srgbClr val="4B5563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QA checklist قبل أن تعتبر الأسبوع الأول مغلقاً.</a:t>
            </a:r>
            <a:endParaRPr lang="en-US" sz="980" dirty="0"/>
          </a:p>
        </p:txBody>
      </p:sp>
      <p:sp>
        <p:nvSpPr>
          <p:cNvPr id="46" name="Shape 43"/>
          <p:cNvSpPr/>
          <p:nvPr/>
        </p:nvSpPr>
        <p:spPr>
          <a:xfrm>
            <a:off x="658368" y="2423160"/>
            <a:ext cx="5257800" cy="3154680"/>
          </a:xfrm>
          <a:prstGeom prst="roundRect">
            <a:avLst>
              <a:gd name="adj" fmla="val 4638"/>
            </a:avLst>
          </a:prstGeom>
          <a:solidFill>
            <a:srgbClr val="FFFFFF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914400" y="2697480"/>
            <a:ext cx="1874520" cy="301752"/>
          </a:xfrm>
          <a:prstGeom prst="roundRect">
            <a:avLst>
              <a:gd name="adj" fmla="val 45455"/>
            </a:avLst>
          </a:prstGeom>
          <a:solidFill>
            <a:srgbClr val="099999"/>
          </a:solidFill>
          <a:ln w="10160">
            <a:solidFill>
              <a:srgbClr val="099999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87552" y="2766060"/>
            <a:ext cx="17282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LEARNER SHOULD HAVE</a:t>
            </a:r>
            <a:endParaRPr lang="en-US" sz="680" dirty="0"/>
          </a:p>
        </p:txBody>
      </p:sp>
      <p:sp>
        <p:nvSpPr>
          <p:cNvPr id="49" name="Shape 46"/>
          <p:cNvSpPr/>
          <p:nvPr/>
        </p:nvSpPr>
        <p:spPr>
          <a:xfrm>
            <a:off x="914400" y="3264408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932688" y="32964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51" name="Text 48"/>
          <p:cNvSpPr/>
          <p:nvPr/>
        </p:nvSpPr>
        <p:spPr>
          <a:xfrm>
            <a:off x="1207008" y="324612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PBIX محفوظ باسم واضح.</a:t>
            </a:r>
            <a:endParaRPr lang="en-US" sz="840" dirty="0"/>
          </a:p>
        </p:txBody>
      </p:sp>
      <p:sp>
        <p:nvSpPr>
          <p:cNvPr id="52" name="Shape 49"/>
          <p:cNvSpPr/>
          <p:nvPr/>
        </p:nvSpPr>
        <p:spPr>
          <a:xfrm>
            <a:off x="914400" y="3611880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932688" y="364388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54" name="Text 51"/>
          <p:cNvSpPr/>
          <p:nvPr/>
        </p:nvSpPr>
        <p:spPr>
          <a:xfrm>
            <a:off x="1207008" y="359359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فهم عملي لـETL وViews.</a:t>
            </a:r>
            <a:endParaRPr lang="en-US" sz="840" dirty="0"/>
          </a:p>
        </p:txBody>
      </p:sp>
      <p:sp>
        <p:nvSpPr>
          <p:cNvPr id="55" name="Shape 52"/>
          <p:cNvSpPr/>
          <p:nvPr/>
        </p:nvSpPr>
        <p:spPr>
          <a:xfrm>
            <a:off x="914400" y="3959352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932688" y="399135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57" name="Text 54"/>
          <p:cNvSpPr/>
          <p:nvPr/>
        </p:nvSpPr>
        <p:spPr>
          <a:xfrm>
            <a:off x="1207008" y="394106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تنظيف Dataset مع Grain واضح.</a:t>
            </a:r>
            <a:endParaRPr lang="en-US" sz="840" dirty="0"/>
          </a:p>
        </p:txBody>
      </p:sp>
      <p:sp>
        <p:nvSpPr>
          <p:cNvPr id="58" name="Shape 55"/>
          <p:cNvSpPr/>
          <p:nvPr/>
        </p:nvSpPr>
        <p:spPr>
          <a:xfrm>
            <a:off x="914400" y="4306824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32688" y="433882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60" name="Text 57"/>
          <p:cNvSpPr/>
          <p:nvPr/>
        </p:nvSpPr>
        <p:spPr>
          <a:xfrm>
            <a:off x="1207008" y="428853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Folder pipeline تجمع ملفات شهرية.</a:t>
            </a:r>
            <a:endParaRPr lang="en-US" sz="840" dirty="0"/>
          </a:p>
        </p:txBody>
      </p:sp>
      <p:sp>
        <p:nvSpPr>
          <p:cNvPr id="61" name="Shape 58"/>
          <p:cNvSpPr/>
          <p:nvPr/>
        </p:nvSpPr>
        <p:spPr>
          <a:xfrm>
            <a:off x="914400" y="4654296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932688" y="468630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50" dirty="0"/>
          </a:p>
        </p:txBody>
      </p:sp>
      <p:sp>
        <p:nvSpPr>
          <p:cNvPr id="63" name="Text 60"/>
          <p:cNvSpPr/>
          <p:nvPr/>
        </p:nvSpPr>
        <p:spPr>
          <a:xfrm>
            <a:off x="1207008" y="463600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Merge مع Masters.</a:t>
            </a:r>
            <a:endParaRPr lang="en-US" sz="840" dirty="0"/>
          </a:p>
        </p:txBody>
      </p:sp>
      <p:sp>
        <p:nvSpPr>
          <p:cNvPr id="64" name="Shape 61"/>
          <p:cNvSpPr/>
          <p:nvPr/>
        </p:nvSpPr>
        <p:spPr>
          <a:xfrm>
            <a:off x="914400" y="5001768"/>
            <a:ext cx="201168" cy="201168"/>
          </a:xfrm>
          <a:prstGeom prst="ellipse">
            <a:avLst/>
          </a:prstGeom>
          <a:solidFill>
            <a:srgbClr val="099999"/>
          </a:solidFill>
          <a:ln w="12700">
            <a:solidFill>
              <a:srgbClr val="099999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932688" y="503377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450" dirty="0"/>
          </a:p>
        </p:txBody>
      </p:sp>
      <p:sp>
        <p:nvSpPr>
          <p:cNvPr id="66" name="Text 63"/>
          <p:cNvSpPr/>
          <p:nvPr/>
        </p:nvSpPr>
        <p:spPr>
          <a:xfrm>
            <a:off x="1207008" y="498348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April دخل بالـRefresh فقط.</a:t>
            </a:r>
            <a:endParaRPr lang="en-US" sz="840" dirty="0"/>
          </a:p>
        </p:txBody>
      </p:sp>
      <p:sp>
        <p:nvSpPr>
          <p:cNvPr id="67" name="Shape 64"/>
          <p:cNvSpPr/>
          <p:nvPr/>
        </p:nvSpPr>
        <p:spPr>
          <a:xfrm>
            <a:off x="6263640" y="2423160"/>
            <a:ext cx="5257800" cy="3154680"/>
          </a:xfrm>
          <a:prstGeom prst="roundRect">
            <a:avLst>
              <a:gd name="adj" fmla="val 4638"/>
            </a:avLst>
          </a:prstGeom>
          <a:solidFill>
            <a:srgbClr val="F8F9FA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6519672" y="2697480"/>
            <a:ext cx="1901952" cy="301752"/>
          </a:xfrm>
          <a:prstGeom prst="roundRect">
            <a:avLst>
              <a:gd name="adj" fmla="val 45455"/>
            </a:avLst>
          </a:prstGeom>
          <a:solidFill>
            <a:srgbClr val="F59E0B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592824" y="2766060"/>
            <a:ext cx="17556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F1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TRAINER SHOULD VERIFY</a:t>
            </a:r>
            <a:endParaRPr lang="en-US" sz="680" dirty="0"/>
          </a:p>
        </p:txBody>
      </p:sp>
      <p:sp>
        <p:nvSpPr>
          <p:cNvPr id="70" name="Shape 67"/>
          <p:cNvSpPr/>
          <p:nvPr/>
        </p:nvSpPr>
        <p:spPr>
          <a:xfrm>
            <a:off x="6519672" y="3264408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537960" y="3296412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450" dirty="0"/>
          </a:p>
        </p:txBody>
      </p:sp>
      <p:sp>
        <p:nvSpPr>
          <p:cNvPr id="72" name="Text 69"/>
          <p:cNvSpPr/>
          <p:nvPr/>
        </p:nvSpPr>
        <p:spPr>
          <a:xfrm>
            <a:off x="6812280" y="3246120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كل الروابط تعمل مم جهاز آخر.</a:t>
            </a:r>
            <a:endParaRPr lang="en-US" sz="840" dirty="0"/>
          </a:p>
        </p:txBody>
      </p:sp>
      <p:sp>
        <p:nvSpPr>
          <p:cNvPr id="73" name="Shape 70"/>
          <p:cNvSpPr/>
          <p:nvPr/>
        </p:nvSpPr>
        <p:spPr>
          <a:xfrm>
            <a:off x="6519672" y="3657600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6537960" y="3689604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450" dirty="0"/>
          </a:p>
        </p:txBody>
      </p:sp>
      <p:sp>
        <p:nvSpPr>
          <p:cNvPr id="75" name="Text 72"/>
          <p:cNvSpPr/>
          <p:nvPr/>
        </p:nvSpPr>
        <p:spPr>
          <a:xfrm>
            <a:off x="6812280" y="3639312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الـZIPs تنزل وتفتح.</a:t>
            </a:r>
            <a:endParaRPr lang="en-US" sz="840" dirty="0"/>
          </a:p>
        </p:txBody>
      </p:sp>
      <p:sp>
        <p:nvSpPr>
          <p:cNvPr id="76" name="Shape 73"/>
          <p:cNvSpPr/>
          <p:nvPr/>
        </p:nvSpPr>
        <p:spPr>
          <a:xfrm>
            <a:off x="6519672" y="4050792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6537960" y="4082796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450" dirty="0"/>
          </a:p>
        </p:txBody>
      </p:sp>
      <p:sp>
        <p:nvSpPr>
          <p:cNvPr id="78" name="Text 75"/>
          <p:cNvSpPr/>
          <p:nvPr/>
        </p:nvSpPr>
        <p:spPr>
          <a:xfrm>
            <a:off x="6812280" y="4032504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Web sources تفتح بدون Login.</a:t>
            </a:r>
            <a:endParaRPr lang="en-US" sz="840" dirty="0"/>
          </a:p>
        </p:txBody>
      </p:sp>
      <p:sp>
        <p:nvSpPr>
          <p:cNvPr id="79" name="Shape 76"/>
          <p:cNvSpPr/>
          <p:nvPr/>
        </p:nvSpPr>
        <p:spPr>
          <a:xfrm>
            <a:off x="6519672" y="4443984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6537960" y="4475988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450" dirty="0"/>
          </a:p>
        </p:txBody>
      </p:sp>
      <p:sp>
        <p:nvSpPr>
          <p:cNvPr id="81" name="Text 78"/>
          <p:cNvSpPr/>
          <p:nvPr/>
        </p:nvSpPr>
        <p:spPr>
          <a:xfrm>
            <a:off x="6812280" y="4425696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April proof قابل للتكرار.</a:t>
            </a:r>
            <a:endParaRPr lang="en-US" sz="840" dirty="0"/>
          </a:p>
        </p:txBody>
      </p:sp>
      <p:sp>
        <p:nvSpPr>
          <p:cNvPr id="82" name="Shape 79"/>
          <p:cNvSpPr/>
          <p:nvPr/>
        </p:nvSpPr>
        <p:spPr>
          <a:xfrm>
            <a:off x="6519672" y="4837176"/>
            <a:ext cx="201168" cy="20116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6537960" y="4869180"/>
            <a:ext cx="1645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450" dirty="0"/>
          </a:p>
        </p:txBody>
      </p:sp>
      <p:sp>
        <p:nvSpPr>
          <p:cNvPr id="84" name="Text 81"/>
          <p:cNvSpPr/>
          <p:nvPr/>
        </p:nvSpPr>
        <p:spPr>
          <a:xfrm>
            <a:off x="6812280" y="4818888"/>
            <a:ext cx="4187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840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لا يوجد اعتماد على old/.</a:t>
            </a:r>
            <a:endParaRPr lang="en-US" sz="840" dirty="0"/>
          </a:p>
        </p:txBody>
      </p:sp>
      <p:sp>
        <p:nvSpPr>
          <p:cNvPr id="85" name="Shape 82"/>
          <p:cNvSpPr/>
          <p:nvPr/>
        </p:nvSpPr>
        <p:spPr>
          <a:xfrm>
            <a:off x="1874520" y="5806440"/>
            <a:ext cx="8412480" cy="594360"/>
          </a:xfrm>
          <a:prstGeom prst="roundRect">
            <a:avLst>
              <a:gd name="adj" fmla="val 18462"/>
            </a:avLst>
          </a:prstGeom>
          <a:solidFill>
            <a:srgbClr val="F0EEFF"/>
          </a:solidFill>
          <a:ln w="10160">
            <a:solidFill>
              <a:srgbClr val="695CFF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075688" y="5943600"/>
            <a:ext cx="8010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ctr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lmarai" pitchFamily="34" charset="0"/>
                <a:ea typeface="Almarai" pitchFamily="34" charset="-122"/>
                <a:cs typeface="Almarai" pitchFamily="34" charset="-120"/>
              </a:rPr>
              <a:t>Week 02 يبدأ بالـModel: Fact vs Dimension • Grain • Relationships • DAX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lmara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Specialist — Week 1 Trainer Playbook Landscape</dc:title>
  <dc:subject>Power BI Specialist — Week 1 Trainer Playbook Landscape</dc:subject>
  <dc:creator>X Academy — Basel Ghanem</dc:creator>
  <cp:lastModifiedBy>X Academy — Basel Ghanem</cp:lastModifiedBy>
  <cp:revision>1</cp:revision>
  <dcterms:created xsi:type="dcterms:W3CDTF">2026-09-20T16:28:49Z</dcterms:created>
  <dcterms:modified xsi:type="dcterms:W3CDTF">2026-09-20T16:28:49Z</dcterms:modified>
</cp:coreProperties>
</file>